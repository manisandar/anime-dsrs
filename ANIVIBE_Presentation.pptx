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1097280"/>
            <a:ext cx="10362895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463040"/>
            <a:ext cx="944849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4400" b="1">
                <a:solidFill>
                  <a:srgbClr val="4F46E5"/>
                </a:solidFill>
              </a:defRPr>
            </a:pPr>
            <a:r>
              <a:t>ANIVIBE</a:t>
            </a:r>
          </a:p>
          <a:p>
            <a:pPr>
              <a:spcAft>
                <a:spcPts val="2400"/>
              </a:spcAft>
              <a:defRPr sz="2800" b="1">
                <a:solidFill>
                  <a:srgbClr val="0F172A"/>
                </a:solidFill>
              </a:defRPr>
            </a:pPr>
            <a:r>
              <a:t>Decision Support &amp; Recommender System for Anime</a:t>
            </a:r>
          </a:p>
          <a:p>
            <a:pPr>
              <a:spcAft>
                <a:spcPts val="800"/>
              </a:spcAft>
              <a:defRPr sz="1800">
                <a:solidFill>
                  <a:srgbClr val="9333EA"/>
                </a:solidFill>
              </a:defRPr>
            </a:pPr>
            <a:r>
              <a:t>Assumption University of Thailand • Vincent Mary School of Science and Technology</a:t>
            </a:r>
          </a:p>
          <a:p>
            <a:pPr>
              <a:spcAft>
                <a:spcPts val="2000"/>
              </a:spcAft>
              <a:defRPr sz="1600">
                <a:solidFill>
                  <a:srgbClr val="334155"/>
                </a:solidFill>
              </a:defRPr>
            </a:pPr>
            <a:r>
              <a:t>Course: CSX/ITX 4207 Decision Support and Recommender Systems</a:t>
            </a:r>
          </a:p>
          <a:p>
            <a:pPr>
              <a:defRPr sz="1400">
                <a:solidFill>
                  <a:srgbClr val="64748B"/>
                </a:solidFill>
              </a:defRPr>
            </a:pPr>
            <a:r>
              <a:t>Core Architectures: Bayesian Popularity • 29-Genre Content-Based Filtering • Knowledge-Based Constraints • 70/40 Hybrid Fusion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4F46E5"/>
                </a:solidFill>
                <a:latin typeface="Arial"/>
              </a:defRPr>
            </a:pPr>
            <a:r>
              <a:t>2. 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000" b="1">
                <a:solidFill>
                  <a:srgbClr val="0F172A"/>
                </a:solidFill>
                <a:latin typeface="Helvetica"/>
              </a:defRPr>
            </a:pPr>
            <a:r>
              <a:t>The Challenge: Anime Information Overload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1069848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00">
                <a:solidFill>
                  <a:srgbClr val="64748B"/>
                </a:solidFill>
                <a:latin typeface="Arial"/>
              </a:defRPr>
            </a:pPr>
            <a:r>
              <a:t>Why standard single-algorithm recommendation fails real-world streaming viewers.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18099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463235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200" b="1">
                <a:solidFill>
                  <a:srgbClr val="E11D48"/>
                </a:solidFill>
              </a:defRPr>
            </a:pPr>
            <a:r>
              <a:t>The Overload Problem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E11D48"/>
                </a:solidFill>
              </a:rPr>
              <a:t>• </a:t>
            </a:r>
            <a:r>
              <a:rPr sz="1600" b="1">
                <a:solidFill>
                  <a:srgbClr val="E11D48"/>
                </a:solidFill>
              </a:rPr>
              <a:t>Massive Catalogues: </a:t>
            </a:r>
            <a:r>
              <a:rPr sz="1600" b="0">
                <a:solidFill>
                  <a:srgbClr val="334155"/>
                </a:solidFill>
              </a:rPr>
              <a:t>Over 1,200+ anime titles available across hundreds of specialized genres and multi-season formats.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E11D48"/>
                </a:solidFill>
              </a:rPr>
              <a:t>• </a:t>
            </a:r>
            <a:r>
              <a:rPr sz="1600" b="1">
                <a:solidFill>
                  <a:srgbClr val="E11D48"/>
                </a:solidFill>
              </a:rPr>
              <a:t>Choice Paralysis: </a:t>
            </a:r>
            <a:r>
              <a:rPr sz="1600" b="0">
                <a:solidFill>
                  <a:srgbClr val="334155"/>
                </a:solidFill>
              </a:rPr>
              <a:t>Viewers spend 15–20 minutes browsing catalogs without deciding what to watch.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E11D48"/>
                </a:solidFill>
              </a:rPr>
              <a:t>• </a:t>
            </a:r>
            <a:r>
              <a:rPr sz="1600" b="1">
                <a:solidFill>
                  <a:srgbClr val="E11D48"/>
                </a:solidFill>
              </a:rPr>
              <a:t>Severe Length Variance: </a:t>
            </a:r>
            <a:r>
              <a:rPr sz="1600" b="0">
                <a:solidFill>
                  <a:srgbClr val="334155"/>
                </a:solidFill>
              </a:rPr>
              <a:t>Titles range from 12-episode quick watches to 500+ episode long commitments (e.g. Naruto, One Piece).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E11D48"/>
                </a:solidFill>
              </a:rPr>
              <a:t>• </a:t>
            </a:r>
            <a:r>
              <a:rPr sz="1600" b="1">
                <a:solidFill>
                  <a:srgbClr val="E11D48"/>
                </a:solidFill>
              </a:rPr>
              <a:t>Cold-Start Friction: </a:t>
            </a:r>
            <a:r>
              <a:rPr sz="1600" b="0">
                <a:solidFill>
                  <a:srgbClr val="334155"/>
                </a:solidFill>
              </a:rPr>
              <a:t>New visitors have zero watch history, causing pure collaborative systems to completely crash or fail.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8270" y="1783080"/>
            <a:ext cx="518099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52590" y="2148840"/>
            <a:ext cx="463235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200" b="1">
                <a:solidFill>
                  <a:srgbClr val="D97706"/>
                </a:solidFill>
              </a:defRPr>
            </a:pPr>
            <a:r>
              <a:t>Flaws of Single Models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D97706"/>
                </a:solidFill>
              </a:rPr>
              <a:t>• </a:t>
            </a:r>
            <a:r>
              <a:rPr sz="1600" b="1">
                <a:solidFill>
                  <a:srgbClr val="D97706"/>
                </a:solidFill>
              </a:rPr>
              <a:t>Popularity Alone: </a:t>
            </a:r>
            <a:r>
              <a:rPr sz="1600" b="0">
                <a:solidFill>
                  <a:srgbClr val="334155"/>
                </a:solidFill>
              </a:rPr>
              <a:t>Biased toward blockbusters; ignores individual user tastes and situation limits entirely.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D97706"/>
                </a:solidFill>
              </a:rPr>
              <a:t>• </a:t>
            </a:r>
            <a:r>
              <a:rPr sz="1600" b="1">
                <a:solidFill>
                  <a:srgbClr val="D97706"/>
                </a:solidFill>
              </a:rPr>
              <a:t>Content-Based Alone: </a:t>
            </a:r>
            <a:r>
              <a:rPr sz="1600" b="0">
                <a:solidFill>
                  <a:srgbClr val="334155"/>
                </a:solidFill>
              </a:rPr>
              <a:t>Prone to severe over-specialization and cannot filter by episode commitment or quality.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D97706"/>
                </a:solidFill>
              </a:rPr>
              <a:t>• </a:t>
            </a:r>
            <a:r>
              <a:rPr sz="1600" b="1">
                <a:solidFill>
                  <a:srgbClr val="D97706"/>
                </a:solidFill>
              </a:rPr>
              <a:t>Knowledge-Based Alone: </a:t>
            </a:r>
            <a:r>
              <a:rPr sz="1600" b="0">
                <a:solidFill>
                  <a:srgbClr val="334155"/>
                </a:solidFill>
              </a:rPr>
              <a:t>Finds valid shows matching rules, but lacks personal taste adaptation across user history.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D97706"/>
                </a:solidFill>
              </a:rPr>
              <a:t>• </a:t>
            </a:r>
            <a:r>
              <a:rPr sz="1600" b="1">
                <a:solidFill>
                  <a:srgbClr val="D97706"/>
                </a:solidFill>
              </a:rPr>
              <a:t>The Academic Solution: </a:t>
            </a:r>
            <a:r>
              <a:rPr sz="1600" b="0">
                <a:solidFill>
                  <a:srgbClr val="334155"/>
                </a:solidFill>
              </a:rPr>
              <a:t>A multi-paradigm decision support architecture combining consensus, taste, and situational constraints.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4F46E5"/>
                </a:solidFill>
                <a:latin typeface="Arial"/>
              </a:defRPr>
            </a:pPr>
            <a:r>
              <a:t>2. 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000" b="1">
                <a:solidFill>
                  <a:srgbClr val="0F172A"/>
                </a:solidFill>
                <a:latin typeface="Helvetica"/>
              </a:defRPr>
            </a:pPr>
            <a:r>
              <a:t>The ANIVIBE Solution: Decision Support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1069848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00">
                <a:solidFill>
                  <a:srgbClr val="64748B"/>
                </a:solidFill>
                <a:latin typeface="Arial"/>
              </a:defRPr>
            </a:pPr>
            <a:r>
              <a:t>Providing interactive guidance, real-world constraint solving, and multi-paradigm recommendations.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3332073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48840"/>
            <a:ext cx="2874873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4F46E5"/>
                </a:solidFill>
              </a:defRPr>
            </a:pPr>
            <a:r>
              <a:t>1. Multi-Paradigm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4F46E5"/>
                </a:solidFill>
              </a:rPr>
              <a:t>• </a:t>
            </a:r>
            <a:r>
              <a:rPr sz="1500" b="1">
                <a:solidFill>
                  <a:srgbClr val="4F46E5"/>
                </a:solidFill>
              </a:rPr>
              <a:t>Strict Academic Models: </a:t>
            </a:r>
            <a:r>
              <a:rPr sz="1500" b="0">
                <a:solidFill>
                  <a:srgbClr val="334155"/>
                </a:solidFill>
              </a:rPr>
              <a:t>Implements Popularity, CBF, KBR, and 70/40 Hybrid independently.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4F46E5"/>
                </a:solidFill>
              </a:rPr>
              <a:t>• </a:t>
            </a:r>
            <a:r>
              <a:rPr sz="1500" b="1">
                <a:solidFill>
                  <a:srgbClr val="4F46E5"/>
                </a:solidFill>
              </a:rPr>
              <a:t>No Black-Box: </a:t>
            </a:r>
            <a:r>
              <a:rPr sz="1500" b="0">
                <a:solidFill>
                  <a:srgbClr val="334155"/>
                </a:solidFill>
              </a:rPr>
              <a:t>Transparent formulas: Bayesian Smoothing, CountVectorizer, and Cosine Similarity.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4F46E5"/>
                </a:solidFill>
              </a:rPr>
              <a:t>• </a:t>
            </a:r>
            <a:r>
              <a:rPr sz="1500" b="1">
                <a:solidFill>
                  <a:srgbClr val="4F46E5"/>
                </a:solidFill>
              </a:rPr>
              <a:t>Zero Drift: </a:t>
            </a:r>
            <a:r>
              <a:rPr sz="1500" b="0">
                <a:solidFill>
                  <a:srgbClr val="334155"/>
                </a:solidFill>
              </a:rPr>
              <a:t>Mathematical evaluation guarantees stable results.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29353" y="1783080"/>
            <a:ext cx="3332073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933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57953" y="2148840"/>
            <a:ext cx="2874873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9333EA"/>
                </a:solidFill>
              </a:defRPr>
            </a:pPr>
            <a:r>
              <a:t>2. Situational Fit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9333EA"/>
                </a:solidFill>
              </a:rPr>
              <a:t>• </a:t>
            </a:r>
            <a:r>
              <a:rPr sz="1500" b="1">
                <a:solidFill>
                  <a:srgbClr val="9333EA"/>
                </a:solidFill>
              </a:rPr>
              <a:t>Time Commitment: </a:t>
            </a:r>
            <a:r>
              <a:rPr sz="1500" b="0">
                <a:solidFill>
                  <a:srgbClr val="334155"/>
                </a:solidFill>
              </a:rPr>
              <a:t>Users select episode limits (e.g. ≤ 13, ≤ 26, ≤ 50 eps) to fit available time.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9333EA"/>
                </a:solidFill>
              </a:rPr>
              <a:t>• </a:t>
            </a:r>
            <a:r>
              <a:rPr sz="1500" b="1">
                <a:solidFill>
                  <a:srgbClr val="9333EA"/>
                </a:solidFill>
              </a:rPr>
              <a:t>Quality Thresholds: </a:t>
            </a:r>
            <a:r>
              <a:rPr sz="1500" b="0">
                <a:solidFill>
                  <a:srgbClr val="334155"/>
                </a:solidFill>
              </a:rPr>
              <a:t>Filters anime strictly above user-defined minimum rating thresholds.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9333EA"/>
                </a:solidFill>
              </a:rPr>
              <a:t>• </a:t>
            </a:r>
            <a:r>
              <a:rPr sz="1500" b="1">
                <a:solidFill>
                  <a:srgbClr val="9333EA"/>
                </a:solidFill>
              </a:rPr>
              <a:t>Genre Directives: </a:t>
            </a:r>
            <a:r>
              <a:rPr sz="1500" b="0">
                <a:solidFill>
                  <a:srgbClr val="334155"/>
                </a:solidFill>
              </a:rPr>
              <a:t>Guarantees must-include genre presence.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27187" y="1783080"/>
            <a:ext cx="3332073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55787" y="2148840"/>
            <a:ext cx="2874873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059669"/>
                </a:solidFill>
              </a:defRPr>
            </a:pPr>
            <a:r>
              <a:t>3. Zero-Latency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059669"/>
                </a:solidFill>
              </a:rPr>
              <a:t>• </a:t>
            </a:r>
            <a:r>
              <a:rPr sz="1500" b="1">
                <a:solidFill>
                  <a:srgbClr val="059669"/>
                </a:solidFill>
              </a:rPr>
              <a:t>100% Client-Side Engine: </a:t>
            </a:r>
            <a:r>
              <a:rPr sz="1500" b="0">
                <a:solidFill>
                  <a:srgbClr val="334155"/>
                </a:solidFill>
              </a:rPr>
              <a:t>Runs full vector math in browser client engine without external cloud delays.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059669"/>
                </a:solidFill>
              </a:rPr>
              <a:t>• </a:t>
            </a:r>
            <a:r>
              <a:rPr sz="1500" b="1">
                <a:solidFill>
                  <a:srgbClr val="059669"/>
                </a:solidFill>
              </a:rPr>
              <a:t>Interactive Session Ratings: </a:t>
            </a:r>
            <a:r>
              <a:rPr sz="1500" b="0">
                <a:solidFill>
                  <a:srgbClr val="334155"/>
                </a:solidFill>
              </a:rPr>
              <a:t>Every rating immediately recalculates the multi-anime taste vector live.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059669"/>
                </a:solidFill>
              </a:rPr>
              <a:t>• </a:t>
            </a:r>
            <a:r>
              <a:rPr sz="1500" b="1">
                <a:solidFill>
                  <a:srgbClr val="059669"/>
                </a:solidFill>
              </a:rPr>
              <a:t>Dual Deployment: </a:t>
            </a:r>
            <a:r>
              <a:rPr sz="1500" b="0">
                <a:solidFill>
                  <a:srgbClr val="334155"/>
                </a:solidFill>
              </a:rPr>
              <a:t>Supports local Node/Python and 100% static hosting.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4F46E5"/>
                </a:solidFill>
                <a:latin typeface="Arial"/>
              </a:defRPr>
            </a:pPr>
            <a:r>
              <a:t>3. EXPLAIN ABOUT DATASET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000" b="1">
                <a:solidFill>
                  <a:srgbClr val="0F172A"/>
                </a:solidFill>
                <a:latin typeface="Helvetica"/>
              </a:defRPr>
            </a:pPr>
            <a:r>
              <a:t>Dataset Overview &amp; Core Attributes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1069848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00">
                <a:solidFill>
                  <a:srgbClr val="64748B"/>
                </a:solidFill>
                <a:latin typeface="Arial"/>
              </a:defRPr>
            </a:pPr>
            <a:r>
              <a:t>Real-world Crunchyroll streaming anime dataset with rich viewer feedback.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18099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463235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200" b="1">
                <a:solidFill>
                  <a:srgbClr val="4F46E5"/>
                </a:solidFill>
              </a:defRPr>
            </a:pPr>
            <a:r>
              <a:t>Dataset Schema &amp; Scale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4F46E5"/>
                </a:solidFill>
              </a:rPr>
              <a:t>• </a:t>
            </a:r>
            <a:r>
              <a:rPr sz="1600" b="1">
                <a:solidFill>
                  <a:srgbClr val="4F46E5"/>
                </a:solidFill>
              </a:rPr>
              <a:t>Total Catalog Size: </a:t>
            </a:r>
            <a:r>
              <a:rPr sz="1600" b="0">
                <a:solidFill>
                  <a:srgbClr val="334155"/>
                </a:solidFill>
              </a:rPr>
              <a:t>1,255 verified anime titles sourced from Crunchyroll.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4F46E5"/>
                </a:solidFill>
              </a:rPr>
              <a:t>• </a:t>
            </a:r>
            <a:r>
              <a:rPr sz="1600" b="1">
                <a:solidFill>
                  <a:srgbClr val="4F46E5"/>
                </a:solidFill>
              </a:rPr>
              <a:t>Rating Scale: </a:t>
            </a:r>
            <a:r>
              <a:rPr sz="1600" b="0">
                <a:solidFill>
                  <a:srgbClr val="334155"/>
                </a:solidFill>
              </a:rPr>
              <a:t>Continuous scale from 1.0 to 5.0 stars with individual 1–5 star vote breakdowns.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4F46E5"/>
                </a:solidFill>
              </a:rPr>
              <a:t>• </a:t>
            </a:r>
            <a:r>
              <a:rPr sz="1600" b="1">
                <a:solidFill>
                  <a:srgbClr val="4F46E5"/>
                </a:solidFill>
              </a:rPr>
              <a:t>High Vote Volume: </a:t>
            </a:r>
            <a:r>
              <a:rPr sz="1600" b="0">
                <a:solidFill>
                  <a:srgbClr val="334155"/>
                </a:solidFill>
              </a:rPr>
              <a:t>Includes mega-titles with up to 48,000+ viewer ratings per series.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4F46E5"/>
                </a:solidFill>
              </a:rPr>
              <a:t>• </a:t>
            </a:r>
            <a:r>
              <a:rPr sz="1600" b="1">
                <a:solidFill>
                  <a:srgbClr val="4F46E5"/>
                </a:solidFill>
              </a:rPr>
              <a:t>Episode Lengths: </a:t>
            </a:r>
            <a:r>
              <a:rPr sz="1600" b="0">
                <a:solidFill>
                  <a:srgbClr val="334155"/>
                </a:solidFill>
              </a:rPr>
              <a:t>Varies from 1-episode OVAs/movies up to 1,100+ episodes (One Piece).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8270" y="1783080"/>
            <a:ext cx="518099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89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52590" y="2148840"/>
            <a:ext cx="463235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200" b="1">
                <a:solidFill>
                  <a:srgbClr val="0891B2"/>
                </a:solidFill>
              </a:defRPr>
            </a:pPr>
            <a:r>
              <a:t>Core Data Fields Per Anime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0891B2"/>
                </a:solidFill>
              </a:rPr>
              <a:t>• </a:t>
            </a:r>
            <a:r>
              <a:rPr sz="1600" b="1">
                <a:solidFill>
                  <a:srgbClr val="0891B2"/>
                </a:solidFill>
              </a:rPr>
              <a:t>anime_id: </a:t>
            </a:r>
            <a:r>
              <a:rPr sz="1600" b="0">
                <a:solidFill>
                  <a:srgbClr val="334155"/>
                </a:solidFill>
              </a:rPr>
              <a:t>Unique integer identifier for indexing and vector mapping.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0891B2"/>
                </a:solidFill>
              </a:rPr>
              <a:t>• </a:t>
            </a:r>
            <a:r>
              <a:rPr sz="1600" b="1">
                <a:solidFill>
                  <a:srgbClr val="0891B2"/>
                </a:solidFill>
              </a:rPr>
              <a:t>title: </a:t>
            </a:r>
            <a:r>
              <a:rPr sz="1600" b="0">
                <a:solidFill>
                  <a:srgbClr val="334155"/>
                </a:solidFill>
              </a:rPr>
              <a:t>Canonical series title (e.g. Naruto Shippuuden, Skip Beat!).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0891B2"/>
                </a:solidFill>
              </a:rPr>
              <a:t>• </a:t>
            </a:r>
            <a:r>
              <a:rPr sz="1600" b="1">
                <a:solidFill>
                  <a:srgbClr val="0891B2"/>
                </a:solidFill>
              </a:rPr>
              <a:t>genres: </a:t>
            </a:r>
            <a:r>
              <a:rPr sz="1600" b="0">
                <a:solidFill>
                  <a:srgbClr val="334155"/>
                </a:solidFill>
              </a:rPr>
              <a:t>Normalized list of category strings (e.g. Action, Shonen, Fantasy).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0891B2"/>
                </a:solidFill>
              </a:rPr>
              <a:t>• </a:t>
            </a:r>
            <a:r>
              <a:rPr sz="1600" b="1">
                <a:solidFill>
                  <a:srgbClr val="0891B2"/>
                </a:solidFill>
              </a:rPr>
              <a:t>rate &amp; votes: </a:t>
            </a:r>
            <a:r>
              <a:rPr sz="1600" b="0">
                <a:solidFill>
                  <a:srgbClr val="334155"/>
                </a:solidFill>
              </a:rPr>
              <a:t>Arithmetic average rating and total community rating volume.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0891B2"/>
                </a:solidFill>
              </a:rPr>
              <a:t>• </a:t>
            </a:r>
            <a:r>
              <a:rPr sz="1600" b="1">
                <a:solidFill>
                  <a:srgbClr val="0891B2"/>
                </a:solidFill>
              </a:rPr>
              <a:t>rate_1 .. rate_5: </a:t>
            </a:r>
            <a:r>
              <a:rPr sz="1600" b="0">
                <a:solidFill>
                  <a:srgbClr val="334155"/>
                </a:solidFill>
              </a:rPr>
              <a:t>Exact distribution of 1-star, 2-star, 3-star, 4-star, and 5-star votes.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0891B2"/>
                </a:solidFill>
              </a:rPr>
              <a:t>• </a:t>
            </a:r>
            <a:r>
              <a:rPr sz="1600" b="1">
                <a:solidFill>
                  <a:srgbClr val="0891B2"/>
                </a:solidFill>
              </a:rPr>
              <a:t>anime_url &amp; anime_img: </a:t>
            </a:r>
            <a:r>
              <a:rPr sz="1600" b="0">
                <a:solidFill>
                  <a:srgbClr val="334155"/>
                </a:solidFill>
              </a:rPr>
              <a:t>Direct streaming destination link and high-resolution poster.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4F46E5"/>
                </a:solidFill>
                <a:latin typeface="Arial"/>
              </a:defRPr>
            </a:pPr>
            <a:r>
              <a:t>3. EXPLAIN ABOUT DATASET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000" b="1">
                <a:solidFill>
                  <a:srgbClr val="0F172A"/>
                </a:solidFill>
                <a:latin typeface="Helvetica"/>
              </a:defRPr>
            </a:pPr>
            <a:r>
              <a:t>Data Cleaning &amp; 29-Genre Vectorization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1069848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00">
                <a:solidFill>
                  <a:srgbClr val="64748B"/>
                </a:solidFill>
                <a:latin typeface="Arial"/>
              </a:defRPr>
            </a:pPr>
            <a:r>
              <a:t>How raw text genres are transformed into standardized mathematical feature vectors.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728655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933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10180015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 b="1">
                <a:solidFill>
                  <a:srgbClr val="9333EA"/>
                </a:solidFill>
              </a:defRPr>
            </a:pPr>
            <a:r>
              <a:t>CountVectorizer Genre Representation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9333EA"/>
                </a:solidFill>
              </a:rPr>
              <a:t>• </a:t>
            </a:r>
            <a:r>
              <a:rPr sz="1600" b="1">
                <a:solidFill>
                  <a:srgbClr val="9333EA"/>
                </a:solidFill>
              </a:rPr>
              <a:t>1. Normalization &amp; Tokenization: </a:t>
            </a:r>
            <a:r>
              <a:rPr sz="1600" b="0">
                <a:solidFill>
                  <a:srgbClr val="334155"/>
                </a:solidFill>
              </a:rPr>
              <a:t>Raw genre strings were parsed, trimmed, lowercase-standardized, and deduplicated.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9333EA"/>
                </a:solidFill>
              </a:rPr>
              <a:t>• </a:t>
            </a:r>
            <a:r>
              <a:rPr sz="1600" b="1">
                <a:solidFill>
                  <a:srgbClr val="9333EA"/>
                </a:solidFill>
              </a:rPr>
              <a:t>2. CountVectorizer (sklearn): </a:t>
            </a:r>
            <a:r>
              <a:rPr sz="1600" b="0">
                <a:solidFill>
                  <a:srgbClr val="334155"/>
                </a:solidFill>
              </a:rPr>
              <a:t>Extracted exactly 29 unique canonical anime genres across the entire database.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9333EA"/>
                </a:solidFill>
              </a:rPr>
              <a:t>• </a:t>
            </a:r>
            <a:r>
              <a:rPr sz="1600" b="1">
                <a:solidFill>
                  <a:srgbClr val="9333EA"/>
                </a:solidFill>
              </a:rPr>
              <a:t>3. Binary Vector Mapping: </a:t>
            </a:r>
            <a:r>
              <a:rPr sz="1600" b="0">
                <a:solidFill>
                  <a:srgbClr val="334155"/>
                </a:solidFill>
              </a:rPr>
              <a:t>Each anime is represented as a 29-dimensional vector v ∈ {0, 1}^29 where index i = 1 if genre is present, 0 otherwise.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9333EA"/>
                </a:solidFill>
              </a:rPr>
              <a:t>• </a:t>
            </a:r>
            <a:r>
              <a:rPr sz="1600" b="1">
                <a:solidFill>
                  <a:srgbClr val="9333EA"/>
                </a:solidFill>
              </a:rPr>
              <a:t>4. Strict Rejection of Prohibited Methods: </a:t>
            </a:r>
            <a:r>
              <a:rPr sz="1600" b="0">
                <a:solidFill>
                  <a:srgbClr val="334155"/>
                </a:solidFill>
              </a:rPr>
              <a:t>NO TF-IDF (preserves rare genres equally), NO synthetic users, and NO centered taste weighting (Rating - 3.0).</a:t>
            </a:r>
          </a:p>
          <a:p>
            <a:pPr>
              <a:spcAft>
                <a:spcPts val="600"/>
              </a:spcAft>
              <a:defRPr sz="1600" b="1">
                <a:solidFill>
                  <a:srgbClr val="4F46E5"/>
                </a:solidFill>
              </a:defRPr>
            </a:pPr>
            <a:r>
              <a:t>The 29 Canonical Genre Dimensions:</a:t>
            </a:r>
          </a:p>
          <a:p>
            <a:pPr>
              <a:defRPr sz="1400">
                <a:solidFill>
                  <a:srgbClr val="64748B"/>
                </a:solidFill>
              </a:defRPr>
            </a:pPr>
            <a:r>
              <a:t>Action, Adventure, Comedy, Drama, Fantasy, Horror, Isekai, Mecha, Mystery, Romance, Sci-Fi, Shonen, Slice of Life, Sports, Supernatural, Thriller, Historical, Martial Arts, Music, Psychological, Post-Apocalyptic, Harem, Idol, Magical Girl, Seinen, Shojo, Tournament, Food, Super Power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4F46E5"/>
                </a:solidFill>
                <a:latin typeface="Arial"/>
              </a:defRPr>
            </a:pPr>
            <a:r>
              <a:t>4. LIST OF RECOMMENDER SYSTEMS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000" b="1">
                <a:solidFill>
                  <a:srgbClr val="0F172A"/>
                </a:solidFill>
                <a:latin typeface="Helvetica"/>
              </a:defRPr>
            </a:pPr>
            <a:r>
              <a:t>The 4 Core Recommendation Paradigms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1069848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00">
                <a:solidFill>
                  <a:srgbClr val="64748B"/>
                </a:solidFill>
                <a:latin typeface="Arial"/>
              </a:defRPr>
            </a:pPr>
            <a:r>
              <a:t>Strict academic separation between consensus, content similarity, rule satisfaction, and hybrid fusion.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18099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011680"/>
            <a:ext cx="472379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800" b="1">
                <a:solidFill>
                  <a:srgbClr val="D97706"/>
                </a:solidFill>
              </a:defRPr>
            </a:pPr>
            <a:r>
              <a:t>1. Popularity-Based</a:t>
            </a:r>
          </a:p>
          <a:p>
            <a:pPr>
              <a:spcAft>
                <a:spcPts val="600"/>
              </a:spcAft>
              <a:defRPr sz="1400">
                <a:solidFill>
                  <a:srgbClr val="0F172A"/>
                </a:solidFill>
              </a:defRPr>
            </a:pPr>
            <a:r>
              <a:t>Consensus Ranking (Bayesian)</a:t>
            </a:r>
          </a:p>
          <a:p>
            <a:pPr>
              <a:defRPr sz="1400">
                <a:solidFill>
                  <a:srgbClr val="334155"/>
                </a:solidFill>
              </a:defRPr>
            </a:pPr>
            <a:r>
              <a:t>Ranks globally loved titles using Bayesian rating smoothing to prevent low-vote score inflation. Serves as the zero-history cold-start baseline.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8270" y="1828800"/>
            <a:ext cx="518099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933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06870" y="2011680"/>
            <a:ext cx="472379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800" b="1">
                <a:solidFill>
                  <a:srgbClr val="9333EA"/>
                </a:solidFill>
              </a:defRPr>
            </a:pPr>
            <a:r>
              <a:t>2. Content-Based (CBF)</a:t>
            </a:r>
          </a:p>
          <a:p>
            <a:pPr>
              <a:spcAft>
                <a:spcPts val="600"/>
              </a:spcAft>
              <a:defRPr sz="1400">
                <a:solidFill>
                  <a:srgbClr val="0F172A"/>
                </a:solidFill>
              </a:defRPr>
            </a:pPr>
            <a:r>
              <a:t>29-Genre Cosine Similarity</a:t>
            </a:r>
          </a:p>
          <a:p>
            <a:pPr>
              <a:defRPr sz="1400">
                <a:solidFill>
                  <a:srgbClr val="334155"/>
                </a:solidFill>
              </a:defRPr>
            </a:pPr>
            <a:r>
              <a:t>Evaluates genre overlap using CountVectorizer and Cosine Similarity. Powers 'More Like This' and builds user taste vectors from session ratings.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251960"/>
            <a:ext cx="518099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89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4434840"/>
            <a:ext cx="472379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800" b="1">
                <a:solidFill>
                  <a:srgbClr val="0891B2"/>
                </a:solidFill>
              </a:defRPr>
            </a:pPr>
            <a:r>
              <a:t>3. Knowledge-Based (KBR)</a:t>
            </a:r>
          </a:p>
          <a:p>
            <a:pPr>
              <a:spcAft>
                <a:spcPts val="600"/>
              </a:spcAft>
              <a:defRPr sz="1400">
                <a:solidFill>
                  <a:srgbClr val="0F172A"/>
                </a:solidFill>
              </a:defRPr>
            </a:pPr>
            <a:r>
              <a:t>Constraint Satisfaction</a:t>
            </a:r>
          </a:p>
          <a:p>
            <a:pPr>
              <a:defRPr sz="1400">
                <a:solidFill>
                  <a:srgbClr val="334155"/>
                </a:solidFill>
              </a:defRPr>
            </a:pPr>
            <a:r>
              <a:t>Evaluates explicit situational requirements (episode commitment ≤ N, minimum rating ≥ R, and must-include genres) with zero user history required.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8270" y="4251960"/>
            <a:ext cx="518099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06870" y="4434840"/>
            <a:ext cx="472379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800" b="1">
                <a:solidFill>
                  <a:srgbClr val="059669"/>
                </a:solidFill>
              </a:defRPr>
            </a:pPr>
            <a:r>
              <a:t>4. 70/40 Hybrid Recommendation</a:t>
            </a:r>
          </a:p>
          <a:p>
            <a:pPr>
              <a:spcAft>
                <a:spcPts val="600"/>
              </a:spcAft>
              <a:defRPr sz="1400">
                <a:solidFill>
                  <a:srgbClr val="0F172A"/>
                </a:solidFill>
              </a:defRPr>
            </a:pPr>
            <a:r>
              <a:t>Situational Fit + Taste Profile</a:t>
            </a:r>
          </a:p>
          <a:p>
            <a:pPr>
              <a:defRPr sz="1400">
                <a:solidFill>
                  <a:srgbClr val="334155"/>
                </a:solidFill>
              </a:defRPr>
            </a:pPr>
            <a:r>
              <a:t>Fuses 70% KBR situation constraints with 40% CBR composite taste profile vector U = ∑ v_i across ALL user-rated anime in the session.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4F46E5"/>
                </a:solidFill>
                <a:latin typeface="Arial"/>
              </a:defRPr>
            </a:pPr>
            <a:r>
              <a:t>5. POPULARITY-BASED 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000" b="1">
                <a:solidFill>
                  <a:srgbClr val="0F172A"/>
                </a:solidFill>
                <a:latin typeface="Helvetica"/>
              </a:defRPr>
            </a:pPr>
            <a:r>
              <a:t>Concept &amp; The Flaw of Raw Averages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1069848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00">
                <a:solidFill>
                  <a:srgbClr val="64748B"/>
                </a:solidFill>
                <a:latin typeface="Arial"/>
              </a:defRPr>
            </a:pPr>
            <a:r>
              <a:t>Why simple arithmetic mean fails, and how Bayesian smoothing fixes vote imbalance.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18099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463235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200" b="1">
                <a:solidFill>
                  <a:srgbClr val="D97706"/>
                </a:solidFill>
              </a:defRPr>
            </a:pPr>
            <a:r>
              <a:t>The Problem With Raw Averages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D97706"/>
                </a:solidFill>
              </a:rPr>
              <a:t>• </a:t>
            </a:r>
            <a:r>
              <a:rPr sz="1600" b="1">
                <a:solidFill>
                  <a:srgbClr val="D97706"/>
                </a:solidFill>
              </a:rPr>
              <a:t>Unreliable Outliers: </a:t>
            </a:r>
            <a:r>
              <a:rPr sz="1600" b="0">
                <a:solidFill>
                  <a:srgbClr val="334155"/>
                </a:solidFill>
              </a:rPr>
              <a:t>An obscure anime with only 2 ratings of 5.0 stars has a raw mean of 5.00 ★.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D97706"/>
                </a:solidFill>
              </a:rPr>
              <a:t>• </a:t>
            </a:r>
            <a:r>
              <a:rPr sz="1600" b="1">
                <a:solidFill>
                  <a:srgbClr val="D97706"/>
                </a:solidFill>
              </a:rPr>
              <a:t>Unfair Blockbuster Penalty: </a:t>
            </a:r>
            <a:r>
              <a:rPr sz="1600" b="0">
                <a:solidFill>
                  <a:srgbClr val="334155"/>
                </a:solidFill>
              </a:rPr>
              <a:t>A masterpiece with 45,000 ratings and an average of 4.85 ★ would be ranked below the 2-vote show.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D97706"/>
                </a:solidFill>
              </a:rPr>
              <a:t>• </a:t>
            </a:r>
            <a:r>
              <a:rPr sz="1600" b="1">
                <a:solidFill>
                  <a:srgbClr val="D97706"/>
                </a:solidFill>
              </a:rPr>
              <a:t>Zero Statistical Confidence: </a:t>
            </a:r>
            <a:r>
              <a:rPr sz="1600" b="0">
                <a:solidFill>
                  <a:srgbClr val="334155"/>
                </a:solidFill>
              </a:rPr>
              <a:t>Raw average fails to account for sample size uncertainty.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D97706"/>
                </a:solidFill>
              </a:rPr>
              <a:t>• </a:t>
            </a:r>
            <a:r>
              <a:rPr sz="1600" b="1">
                <a:solidFill>
                  <a:srgbClr val="D97706"/>
                </a:solidFill>
              </a:rPr>
              <a:t>Ruined User Experience: </a:t>
            </a:r>
            <a:r>
              <a:rPr sz="1600" b="0">
                <a:solidFill>
                  <a:srgbClr val="334155"/>
                </a:solidFill>
              </a:rPr>
              <a:t>Showing obscure or niche titles on the home page damages initial user trust.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8270" y="1783080"/>
            <a:ext cx="518099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89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52590" y="2148840"/>
            <a:ext cx="463235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200" b="1">
                <a:solidFill>
                  <a:srgbClr val="0891B2"/>
                </a:solidFill>
              </a:defRPr>
            </a:pPr>
            <a:r>
              <a:t>The Bayesian Solution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0891B2"/>
                </a:solidFill>
              </a:rPr>
              <a:t>• </a:t>
            </a:r>
            <a:r>
              <a:rPr sz="1600" b="1">
                <a:solidFill>
                  <a:srgbClr val="0891B2"/>
                </a:solidFill>
              </a:rPr>
              <a:t>Bayesian Prior (Shrinkage): </a:t>
            </a:r>
            <a:r>
              <a:rPr sz="1600" b="0">
                <a:solidFill>
                  <a:srgbClr val="334155"/>
                </a:solidFill>
              </a:rPr>
              <a:t>Pulls all anime toward the catalog global mean (C = 4.147 ★) as a baseline prior.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0891B2"/>
                </a:solidFill>
              </a:rPr>
              <a:t>• </a:t>
            </a:r>
            <a:r>
              <a:rPr sz="1600" b="1">
                <a:solidFill>
                  <a:srgbClr val="0891B2"/>
                </a:solidFill>
              </a:rPr>
              <a:t>Confidence Weighting (m): </a:t>
            </a:r>
            <a:r>
              <a:rPr sz="1600" b="0">
                <a:solidFill>
                  <a:srgbClr val="334155"/>
                </a:solidFill>
              </a:rPr>
              <a:t>Sets a minimum vote threshold (m = 100 votes) required to establish statistical credibility.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0891B2"/>
                </a:solidFill>
              </a:rPr>
              <a:t>• </a:t>
            </a:r>
            <a:r>
              <a:rPr sz="1600" b="1">
                <a:solidFill>
                  <a:srgbClr val="0891B2"/>
                </a:solidFill>
              </a:rPr>
              <a:t>Automatic Equilibrium: </a:t>
            </a:r>
            <a:r>
              <a:rPr sz="1600" b="0">
                <a:solidFill>
                  <a:srgbClr val="334155"/>
                </a:solidFill>
              </a:rPr>
              <a:t>High-vote titles rely almost entirely on their true rating; low-vote titles stay near the global mean.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0891B2"/>
                </a:solidFill>
              </a:rPr>
              <a:t>• </a:t>
            </a:r>
            <a:r>
              <a:rPr sz="1600" b="1">
                <a:solidFill>
                  <a:srgbClr val="0891B2"/>
                </a:solidFill>
              </a:rPr>
              <a:t>Home Page Foundation: </a:t>
            </a:r>
            <a:r>
              <a:rPr sz="1600" b="0">
                <a:solidFill>
                  <a:srgbClr val="334155"/>
                </a:solidFill>
              </a:rPr>
              <a:t>Powers 'Popular Right Now' as the reliable cold-start consensus for first-time visitors.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4F46E5"/>
                </a:solidFill>
                <a:latin typeface="Arial"/>
              </a:defRPr>
            </a:pPr>
            <a:r>
              <a:t>5. POPULARITY-BASED 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000" b="1">
                <a:solidFill>
                  <a:srgbClr val="0F172A"/>
                </a:solidFill>
                <a:latin typeface="Helvetica"/>
              </a:defRPr>
            </a:pPr>
            <a:r>
              <a:t>Mathematical Formulation &amp; Step-by-Step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1069848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00">
                <a:solidFill>
                  <a:srgbClr val="64748B"/>
                </a:solidFill>
                <a:latin typeface="Arial"/>
              </a:defRPr>
            </a:pPr>
            <a:r>
              <a:t>The exact Bayesian weighted rating formula utilized in ANIVIBE.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728655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10180015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 b="1">
                <a:solidFill>
                  <a:srgbClr val="D97706"/>
                </a:solidFill>
              </a:defRPr>
            </a:pPr>
            <a:r>
              <a:t>The Bayesian Weighted Rating Formula</a:t>
            </a:r>
          </a:p>
          <a:p>
            <a:pPr>
              <a:spcAft>
                <a:spcPts val="1600"/>
              </a:spcAft>
              <a:defRPr sz="2200" b="1">
                <a:solidFill>
                  <a:srgbClr val="4F46E5"/>
                </a:solidFill>
              </a:defRPr>
            </a:pPr>
            <a:r>
              <a:t>WR = [ v / (v + m) ] × R  +  [ m / (v + m) ] × C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D97706"/>
                </a:solidFill>
              </a:rPr>
              <a:t>• </a:t>
            </a:r>
            <a:r>
              <a:rPr sz="1600" b="1">
                <a:solidFill>
                  <a:srgbClr val="D97706"/>
                </a:solidFill>
              </a:rPr>
              <a:t>v (Vote Count): </a:t>
            </a:r>
            <a:r>
              <a:rPr sz="1600" b="0">
                <a:solidFill>
                  <a:srgbClr val="334155"/>
                </a:solidFill>
              </a:rPr>
              <a:t>The number of community ratings for the individual anime series.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D97706"/>
                </a:solidFill>
              </a:rPr>
              <a:t>• </a:t>
            </a:r>
            <a:r>
              <a:rPr sz="1600" b="1">
                <a:solidFill>
                  <a:srgbClr val="D97706"/>
                </a:solidFill>
              </a:rPr>
              <a:t>m (Confidence Threshold): </a:t>
            </a:r>
            <a:r>
              <a:rPr sz="1600" b="0">
                <a:solidFill>
                  <a:srgbClr val="334155"/>
                </a:solidFill>
              </a:rPr>
              <a:t>Set to 100 ratings in ANIVIBE. Represents the number of votes required for confidence.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D97706"/>
                </a:solidFill>
              </a:rPr>
              <a:t>• </a:t>
            </a:r>
            <a:r>
              <a:rPr sz="1600" b="1">
                <a:solidFill>
                  <a:srgbClr val="D97706"/>
                </a:solidFill>
              </a:rPr>
              <a:t>R (Individual Rating): </a:t>
            </a:r>
            <a:r>
              <a:rPr sz="1600" b="0">
                <a:solidFill>
                  <a:srgbClr val="334155"/>
                </a:solidFill>
              </a:rPr>
              <a:t>The raw arithmetic mean rating of the anime (1.0 to 5.0 stars).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D97706"/>
                </a:solidFill>
              </a:rPr>
              <a:t>• </a:t>
            </a:r>
            <a:r>
              <a:rPr sz="1600" b="1">
                <a:solidFill>
                  <a:srgbClr val="D97706"/>
                </a:solidFill>
              </a:rPr>
              <a:t>C (Global Prior Mean): </a:t>
            </a:r>
            <a:r>
              <a:rPr sz="1600" b="0">
                <a:solidFill>
                  <a:srgbClr val="334155"/>
                </a:solidFill>
              </a:rPr>
              <a:t>Calculated across all 1,255 anime in the dataset: C = 4.147 stars.</a:t>
            </a:r>
          </a:p>
          <a:p>
            <a:pPr>
              <a:spcAft>
                <a:spcPts val="600"/>
              </a:spcAft>
              <a:defRPr sz="1600" b="1">
                <a:solidFill>
                  <a:srgbClr val="0F172A"/>
                </a:solidFill>
              </a:defRPr>
            </a:pPr>
            <a:r>
              <a:t>Mathematical Proof of Behavior: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059669"/>
                </a:solidFill>
              </a:rPr>
              <a:t>• </a:t>
            </a:r>
            <a:r>
              <a:rPr sz="1500" b="1">
                <a:solidFill>
                  <a:srgbClr val="059669"/>
                </a:solidFill>
              </a:rPr>
              <a:t>When v is huge (e.g. v = 15,011): </a:t>
            </a:r>
            <a:r>
              <a:rPr sz="1500" b="0">
                <a:solidFill>
                  <a:srgbClr val="334155"/>
                </a:solidFill>
              </a:rPr>
              <a:t>v / (v + 100) = 0.993 → WR ≈ R (true rating dominates).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059669"/>
                </a:solidFill>
              </a:rPr>
              <a:t>• </a:t>
            </a:r>
            <a:r>
              <a:rPr sz="1500" b="1">
                <a:solidFill>
                  <a:srgbClr val="059669"/>
                </a:solidFill>
              </a:rPr>
              <a:t>When v is tiny (e.g. v = 2, R = 5.0): </a:t>
            </a:r>
            <a:r>
              <a:rPr sz="1500" b="0">
                <a:solidFill>
                  <a:srgbClr val="334155"/>
                </a:solidFill>
              </a:rPr>
              <a:t>2 / 102 = 0.02 → WR = 0.02(5.0) + 0.98(4.147) = 4.164 ★ (safely suppressed).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4F46E5"/>
                </a:solidFill>
                <a:latin typeface="Arial"/>
              </a:defRPr>
            </a:pPr>
            <a:r>
              <a:t>5. POPULARITY-BASED 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000" b="1">
                <a:solidFill>
                  <a:srgbClr val="0F172A"/>
                </a:solidFill>
                <a:latin typeface="Helvetica"/>
              </a:defRPr>
            </a:pPr>
            <a:r>
              <a:t>Top 10 Popular Anime (Actual Dataset)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1069848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00">
                <a:solidFill>
                  <a:srgbClr val="64748B"/>
                </a:solidFill>
                <a:latin typeface="Arial"/>
              </a:defRPr>
            </a:pPr>
            <a:r>
              <a:t>Calculated using Bayesian rating smoothing across all 1,255 titles.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783080"/>
          <a:ext cx="10728655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4876495"/>
                <a:gridCol w="1645920"/>
                <a:gridCol w="1737360"/>
                <a:gridCol w="1737360"/>
              </a:tblGrid>
              <a:tr h="415636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4F46E5"/>
                          </a:solidFill>
                          <a:latin typeface="Helvetica"/>
                        </a:defRPr>
                      </a:pPr>
                      <a:r>
                        <a:t>Rank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500" b="1">
                          <a:solidFill>
                            <a:srgbClr val="4F46E5"/>
                          </a:solidFill>
                          <a:latin typeface="Helvetica"/>
                        </a:defRPr>
                      </a:pPr>
                      <a:r>
                        <a:t>Anime Title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4F46E5"/>
                          </a:solidFill>
                          <a:latin typeface="Helvetica"/>
                        </a:defRPr>
                      </a:pPr>
                      <a:r>
                        <a:t>Raw Rating (R)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4F46E5"/>
                          </a:solidFill>
                          <a:latin typeface="Helvetica"/>
                        </a:defRPr>
                      </a:pPr>
                      <a:r>
                        <a:t>Total Votes (v)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4F46E5"/>
                          </a:solidFill>
                          <a:latin typeface="Helvetica"/>
                        </a:defRPr>
                      </a:pPr>
                      <a:r>
                        <a:t>Bayesian Score (WR)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#1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Skip Beat!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4.91 ★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15,011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59669"/>
                          </a:solidFill>
                          <a:latin typeface="Arial"/>
                        </a:defRPr>
                      </a:pPr>
                      <a:r>
                        <a:t>4.905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#2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Natsume Yuujinchou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4.89 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5,158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59669"/>
                          </a:solidFill>
                          <a:latin typeface="Arial"/>
                        </a:defRPr>
                      </a:pPr>
                      <a:r>
                        <a:t>4.876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#3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REBORN!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4.88 ★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12,542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59669"/>
                          </a:solidFill>
                          <a:latin typeface="Arial"/>
                        </a:defRPr>
                      </a:pPr>
                      <a:r>
                        <a:t>4.874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#4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Gintama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4.87 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11,435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59669"/>
                          </a:solidFill>
                          <a:latin typeface="Arial"/>
                        </a:defRPr>
                      </a:pPr>
                      <a:r>
                        <a:t>4.864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#5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Shugo Chara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4.86 ★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33,688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59669"/>
                          </a:solidFill>
                          <a:latin typeface="Arial"/>
                        </a:defRPr>
                      </a:pPr>
                      <a:r>
                        <a:t>4.858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#6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La Corda d'Oro ~primo passo~ and ~secondo passo~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4.86 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9,555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59669"/>
                          </a:solidFill>
                          <a:latin typeface="Arial"/>
                        </a:defRPr>
                      </a:pPr>
                      <a:r>
                        <a:t>4.853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#7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Time of Eve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4.87 ★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3,864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59669"/>
                          </a:solidFill>
                          <a:latin typeface="Arial"/>
                        </a:defRPr>
                      </a:pPr>
                      <a:r>
                        <a:t>4.852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#8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Eyeshield 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4.85 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8,466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59669"/>
                          </a:solidFill>
                          <a:latin typeface="Arial"/>
                        </a:defRPr>
                      </a:pPr>
                      <a:r>
                        <a:t>4.842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#9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Usagi Drop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4.89 ★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1,402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59669"/>
                          </a:solidFill>
                          <a:latin typeface="Arial"/>
                        </a:defRPr>
                      </a:pPr>
                      <a:r>
                        <a:t>4.841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1564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#10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Hayate the Combat Butler! (S1 e S2)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4.85 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5,689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59669"/>
                          </a:solidFill>
                          <a:latin typeface="Arial"/>
                        </a:defRPr>
                      </a:pPr>
                      <a:r>
                        <a:t>4.838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4F46E5"/>
                </a:solidFill>
                <a:latin typeface="Arial"/>
              </a:defRPr>
            </a:pPr>
            <a:r>
              <a:t>6. CONTENT-BASED FILTERING (CBF)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000" b="1">
                <a:solidFill>
                  <a:srgbClr val="0F172A"/>
                </a:solidFill>
                <a:latin typeface="Helvetica"/>
              </a:defRPr>
            </a:pPr>
            <a:r>
              <a:t>Concept &amp; Core Method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1069848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00">
                <a:solidFill>
                  <a:srgbClr val="64748B"/>
                </a:solidFill>
                <a:latin typeface="Arial"/>
              </a:defRPr>
            </a:pPr>
            <a:r>
              <a:t>Item-to-Item Content-Based Filtering powering 'More Like This' on the anime viewing page.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18099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933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463235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200" b="1">
                <a:solidFill>
                  <a:srgbClr val="9333EA"/>
                </a:solidFill>
              </a:defRPr>
            </a:pPr>
            <a:r>
              <a:t>Core Principles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9333EA"/>
                </a:solidFill>
              </a:rPr>
              <a:t>• </a:t>
            </a:r>
            <a:r>
              <a:rPr sz="1600" b="1">
                <a:solidFill>
                  <a:srgbClr val="9333EA"/>
                </a:solidFill>
              </a:rPr>
              <a:t>Pure Content Matching: </a:t>
            </a:r>
            <a:r>
              <a:rPr sz="1600" b="0">
                <a:solidFill>
                  <a:srgbClr val="334155"/>
                </a:solidFill>
              </a:rPr>
              <a:t>Recommends anime based purely on shared genre attributes between the selected viewing anime and catalog titles.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9333EA"/>
                </a:solidFill>
              </a:rPr>
              <a:t>• </a:t>
            </a:r>
            <a:r>
              <a:rPr sz="1600" b="1">
                <a:solidFill>
                  <a:srgbClr val="9333EA"/>
                </a:solidFill>
              </a:rPr>
              <a:t>Viewing Page Integration: </a:t>
            </a:r>
            <a:r>
              <a:rPr sz="1600" b="0">
                <a:solidFill>
                  <a:srgbClr val="334155"/>
                </a:solidFill>
              </a:rPr>
              <a:t>When a user views an anime (e.g. Naruto Shippuuden), the system generates the 'More Like This' row.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9333EA"/>
                </a:solidFill>
              </a:rPr>
              <a:t>• </a:t>
            </a:r>
            <a:r>
              <a:rPr sz="1600" b="1">
                <a:solidFill>
                  <a:srgbClr val="9333EA"/>
                </a:solidFill>
              </a:rPr>
              <a:t>Reference Exclusion: </a:t>
            </a:r>
            <a:r>
              <a:rPr sz="1600" b="0">
                <a:solidFill>
                  <a:srgbClr val="334155"/>
                </a:solidFill>
              </a:rPr>
              <a:t>The viewing anime itself is strictly excluded from results so only new discovery candidates appear.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9333EA"/>
                </a:solidFill>
              </a:rPr>
              <a:t>• </a:t>
            </a:r>
            <a:r>
              <a:rPr sz="1600" b="1">
                <a:solidFill>
                  <a:srgbClr val="9333EA"/>
                </a:solidFill>
              </a:rPr>
              <a:t>Zero Collaborative Drift: </a:t>
            </a:r>
            <a:r>
              <a:rPr sz="1600" b="0">
                <a:solidFill>
                  <a:srgbClr val="334155"/>
                </a:solidFill>
              </a:rPr>
              <a:t>Requires no user clusters, no synthetic ratings, and no ratings-minus-3.0 math.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8270" y="1783080"/>
            <a:ext cx="518099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89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52590" y="2148840"/>
            <a:ext cx="463235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200" b="1">
                <a:solidFill>
                  <a:srgbClr val="0891B2"/>
                </a:solidFill>
              </a:defRPr>
            </a:pPr>
            <a:r>
              <a:t>Mathematical Pipeline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0891B2"/>
                </a:solidFill>
              </a:rPr>
              <a:t>• </a:t>
            </a:r>
            <a:r>
              <a:rPr sz="1600" b="1">
                <a:solidFill>
                  <a:srgbClr val="0891B2"/>
                </a:solidFill>
              </a:rPr>
              <a:t>Step 1: Clean Genres: </a:t>
            </a:r>
            <a:r>
              <a:rPr sz="1600" b="0">
                <a:solidFill>
                  <a:srgbClr val="334155"/>
                </a:solidFill>
              </a:rPr>
              <a:t>Normalize raw genres into canonical tokens across 29 unique categories.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0891B2"/>
                </a:solidFill>
              </a:rPr>
              <a:t>• </a:t>
            </a:r>
            <a:r>
              <a:rPr sz="1600" b="1">
                <a:solidFill>
                  <a:srgbClr val="0891B2"/>
                </a:solidFill>
              </a:rPr>
              <a:t>Step 2: CountVectorizer: </a:t>
            </a:r>
            <a:r>
              <a:rPr sz="1600" b="0">
                <a:solidFill>
                  <a:srgbClr val="334155"/>
                </a:solidFill>
              </a:rPr>
              <a:t>Convert each anime's genres into a 29-dimensional binary vector v_i.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0891B2"/>
                </a:solidFill>
              </a:rPr>
              <a:t>• </a:t>
            </a:r>
            <a:r>
              <a:rPr sz="1600" b="1">
                <a:solidFill>
                  <a:srgbClr val="0891B2"/>
                </a:solidFill>
              </a:rPr>
              <a:t>Step 3: Cosine Similarity: </a:t>
            </a:r>
            <a:r>
              <a:rPr sz="1600" b="0">
                <a:solidFill>
                  <a:srgbClr val="334155"/>
                </a:solidFill>
              </a:rPr>
              <a:t>Compute cosine of angle between viewing anime vector and candidate anime vectors.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0891B2"/>
                </a:solidFill>
              </a:rPr>
              <a:t>• </a:t>
            </a:r>
            <a:r>
              <a:rPr sz="1600" b="1">
                <a:solidFill>
                  <a:srgbClr val="0891B2"/>
                </a:solidFill>
              </a:rPr>
              <a:t>Step 4: Descending Sort: </a:t>
            </a:r>
            <a:r>
              <a:rPr sz="1600" b="0">
                <a:solidFill>
                  <a:srgbClr val="334155"/>
                </a:solidFill>
              </a:rPr>
              <a:t>Sort candidates descending by Cosine Similarity and display top similar titles.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4F46E5"/>
                </a:solidFill>
                <a:latin typeface="Arial"/>
              </a:defRPr>
            </a:pPr>
            <a:r>
              <a:t>6. CONTENT-BASED FILTERING (CBF)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000" b="1">
                <a:solidFill>
                  <a:srgbClr val="0F172A"/>
                </a:solidFill>
                <a:latin typeface="Helvetica"/>
              </a:defRPr>
            </a:pPr>
            <a:r>
              <a:t>Vector Space Model &amp; Cosine Similarity Formula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1069848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00">
                <a:solidFill>
                  <a:srgbClr val="64748B"/>
                </a:solidFill>
                <a:latin typeface="Arial"/>
              </a:defRPr>
            </a:pPr>
            <a:r>
              <a:t>Measuring angular proximity in 29-dimensional genre space.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728655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933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10180015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 b="1">
                <a:solidFill>
                  <a:srgbClr val="9333EA"/>
                </a:solidFill>
              </a:defRPr>
            </a:pPr>
            <a:r>
              <a:t>Cosine Similarity Mathematical Definition</a:t>
            </a:r>
          </a:p>
          <a:p>
            <a:pPr>
              <a:spcAft>
                <a:spcPts val="1600"/>
              </a:spcAft>
              <a:defRPr sz="2000" b="1">
                <a:solidFill>
                  <a:srgbClr val="4F46E5"/>
                </a:solidFill>
              </a:defRPr>
            </a:pPr>
            <a:r>
              <a:t>CosineSimilarity(A, B) = ( A • B ) / ( ||A|| × ||B|| ) = [ ∑ A_i B_i ] / [ √(∑ A_i²) × √(∑ B_i²) ]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9333EA"/>
                </a:solidFill>
              </a:rPr>
              <a:t>• </a:t>
            </a:r>
            <a:r>
              <a:rPr sz="1600" b="1">
                <a:solidFill>
                  <a:srgbClr val="9333EA"/>
                </a:solidFill>
              </a:rPr>
              <a:t>A • B (Dot Product): </a:t>
            </a:r>
            <a:r>
              <a:rPr sz="1600" b="0">
                <a:solidFill>
                  <a:srgbClr val="334155"/>
                </a:solidFill>
              </a:rPr>
              <a:t>Multiplies matching genre elements. Each shared genre adds 1 × 1 = 1 to the dot product numerator.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9333EA"/>
                </a:solidFill>
              </a:rPr>
              <a:t>• </a:t>
            </a:r>
            <a:r>
              <a:rPr sz="1600" b="1">
                <a:solidFill>
                  <a:srgbClr val="9333EA"/>
                </a:solidFill>
              </a:rPr>
              <a:t>||A|| (Euclidean Norm): </a:t>
            </a:r>
            <a:r>
              <a:rPr sz="1600" b="0">
                <a:solidFill>
                  <a:srgbClr val="334155"/>
                </a:solidFill>
              </a:rPr>
              <a:t>Length of vector A: √(number of genres in anime A). For Naruto with 5 genres: ||A|| = √5 ≈ 2.236.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9333EA"/>
                </a:solidFill>
              </a:rPr>
              <a:t>• </a:t>
            </a:r>
            <a:r>
              <a:rPr sz="1600" b="1">
                <a:solidFill>
                  <a:srgbClr val="9333EA"/>
                </a:solidFill>
              </a:rPr>
              <a:t>||B|| (Euclidean Norm): </a:t>
            </a:r>
            <a:r>
              <a:rPr sz="1600" b="0">
                <a:solidFill>
                  <a:srgbClr val="334155"/>
                </a:solidFill>
              </a:rPr>
              <a:t>Length of candidate vector B: √(number of genres in candidate anime B).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9333EA"/>
                </a:solidFill>
              </a:rPr>
              <a:t>• </a:t>
            </a:r>
            <a:r>
              <a:rPr sz="1600" b="1">
                <a:solidFill>
                  <a:srgbClr val="9333EA"/>
                </a:solidFill>
              </a:rPr>
              <a:t>Length Invariance: </a:t>
            </a:r>
            <a:r>
              <a:rPr sz="1600" b="0">
                <a:solidFill>
                  <a:srgbClr val="334155"/>
                </a:solidFill>
              </a:rPr>
              <a:t>Normalizing by vector norms prevents anime with many genres from artificially dominating recommendations.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9333EA"/>
                </a:solidFill>
              </a:rPr>
              <a:t>• </a:t>
            </a:r>
            <a:r>
              <a:rPr sz="1600" b="1">
                <a:solidFill>
                  <a:srgbClr val="9333EA"/>
                </a:solidFill>
              </a:rPr>
              <a:t>Bounded Range: </a:t>
            </a:r>
            <a:r>
              <a:rPr sz="1600" b="0">
                <a:solidFill>
                  <a:srgbClr val="334155"/>
                </a:solidFill>
              </a:rPr>
              <a:t>Score always ranges strictly between 0.0 (zero genre overlap) and 1.0 (identical genre set).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4F46E5"/>
                </a:solidFill>
                <a:latin typeface="Arial"/>
              </a:defRPr>
            </a:pPr>
            <a:r>
              <a:t>6. CONTENT-BASED FILTERING (CBF)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000" b="1">
                <a:solidFill>
                  <a:srgbClr val="0F172A"/>
                </a:solidFill>
                <a:latin typeface="Helvetica"/>
              </a:defRPr>
            </a:pPr>
            <a:r>
              <a:t>Step-by-Step Calculation: Naruto Shippuuden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1069848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00">
                <a:solidFill>
                  <a:srgbClr val="64748B"/>
                </a:solidFill>
                <a:latin typeface="Arial"/>
              </a:defRPr>
            </a:pPr>
            <a:r>
              <a:t>Demonstrating exact cosine similarity calculations between Naruto and candidate titles.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18099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463235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 b="1">
                <a:solidFill>
                  <a:srgbClr val="4F46E5"/>
                </a:solidFill>
              </a:defRPr>
            </a:pPr>
            <a:r>
              <a:t>Reference Anime: Naruto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4F46E5"/>
                </a:solidFill>
              </a:rPr>
              <a:t>• </a:t>
            </a:r>
            <a:r>
              <a:rPr sz="1600" b="1">
                <a:solidFill>
                  <a:srgbClr val="4F46E5"/>
                </a:solidFill>
              </a:rPr>
              <a:t>Title: </a:t>
            </a:r>
            <a:r>
              <a:rPr sz="1600" b="0">
                <a:solidFill>
                  <a:srgbClr val="334155"/>
                </a:solidFill>
              </a:rPr>
              <a:t>Naruto Shippuuden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4F46E5"/>
                </a:solidFill>
              </a:rPr>
              <a:t>• </a:t>
            </a:r>
            <a:r>
              <a:rPr sz="1600" b="1">
                <a:solidFill>
                  <a:srgbClr val="4F46E5"/>
                </a:solidFill>
              </a:rPr>
              <a:t>Genres (5): </a:t>
            </a:r>
            <a:r>
              <a:rPr sz="1600" b="0">
                <a:solidFill>
                  <a:srgbClr val="334155"/>
                </a:solidFill>
              </a:rPr>
              <a:t>Action, Adventure, Fantasy, Martial Arts, Shonen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4F46E5"/>
                </a:solidFill>
              </a:rPr>
              <a:t>• </a:t>
            </a:r>
            <a:r>
              <a:rPr sz="1600" b="1">
                <a:solidFill>
                  <a:srgbClr val="4F46E5"/>
                </a:solidFill>
              </a:rPr>
              <a:t>Feature Vector A: </a:t>
            </a:r>
            <a:r>
              <a:rPr sz="1600" b="0">
                <a:solidFill>
                  <a:srgbClr val="334155"/>
                </a:solidFill>
              </a:rPr>
              <a:t>Has 1s at positions for Action, Adventure, Fantasy, Martial Arts, Shonen; 0s elsewhere.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4F46E5"/>
                </a:solidFill>
              </a:rPr>
              <a:t>• </a:t>
            </a:r>
            <a:r>
              <a:rPr sz="1600" b="1">
                <a:solidFill>
                  <a:srgbClr val="4F46E5"/>
                </a:solidFill>
              </a:rPr>
              <a:t>Norm ||A||: </a:t>
            </a:r>
            <a:r>
              <a:rPr sz="1600" b="0">
                <a:solidFill>
                  <a:srgbClr val="334155"/>
                </a:solidFill>
              </a:rPr>
              <a:t>√(1² + 1² + 1² + 1² + 1²) = √5 ≈ 2.236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8270" y="1783080"/>
            <a:ext cx="518099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52590" y="2148840"/>
            <a:ext cx="463235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 b="1">
                <a:solidFill>
                  <a:srgbClr val="059669"/>
                </a:solidFill>
              </a:defRPr>
            </a:pPr>
            <a:r>
              <a:t>Candidate: Hunter x Hunter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059669"/>
                </a:solidFill>
              </a:rPr>
              <a:t>• </a:t>
            </a:r>
            <a:r>
              <a:rPr sz="1600" b="1">
                <a:solidFill>
                  <a:srgbClr val="059669"/>
                </a:solidFill>
              </a:rPr>
              <a:t>Candidate Genres (4): </a:t>
            </a:r>
            <a:r>
              <a:rPr sz="1600" b="0">
                <a:solidFill>
                  <a:srgbClr val="334155"/>
                </a:solidFill>
              </a:rPr>
              <a:t>Action, Adventure, Fantasy, Shonen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059669"/>
                </a:solidFill>
              </a:rPr>
              <a:t>• </a:t>
            </a:r>
            <a:r>
              <a:rPr sz="1600" b="1">
                <a:solidFill>
                  <a:srgbClr val="059669"/>
                </a:solidFill>
              </a:rPr>
              <a:t>Norm ||B||: </a:t>
            </a:r>
            <a:r>
              <a:rPr sz="1600" b="0">
                <a:solidFill>
                  <a:srgbClr val="334155"/>
                </a:solidFill>
              </a:rPr>
              <a:t>√(1² + 1² + 1² + 1²) = √4 = 2.000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059669"/>
                </a:solidFill>
              </a:rPr>
              <a:t>• </a:t>
            </a:r>
            <a:r>
              <a:rPr sz="1600" b="1">
                <a:solidFill>
                  <a:srgbClr val="059669"/>
                </a:solidFill>
              </a:rPr>
              <a:t>Dot Product (A • B): </a:t>
            </a:r>
            <a:r>
              <a:rPr sz="1600" b="0">
                <a:solidFill>
                  <a:srgbClr val="334155"/>
                </a:solidFill>
              </a:rPr>
              <a:t>Action(1) + Adventure(1) + Fantasy(1) + Shonen(1) = 4 shared genres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059669"/>
                </a:solidFill>
              </a:rPr>
              <a:t>• </a:t>
            </a:r>
            <a:r>
              <a:rPr sz="1600" b="1">
                <a:solidFill>
                  <a:srgbClr val="059669"/>
                </a:solidFill>
              </a:rPr>
              <a:t>Cosine Similarity: </a:t>
            </a:r>
            <a:r>
              <a:rPr sz="1600" b="0">
                <a:solidFill>
                  <a:srgbClr val="334155"/>
                </a:solidFill>
              </a:rPr>
              <a:t>4.0 / (2.236 × 2.000) = 4.0 / 4.472 = 0.894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059669"/>
                </a:solidFill>
              </a:rPr>
              <a:t>• </a:t>
            </a:r>
            <a:r>
              <a:rPr sz="1600" b="1">
                <a:solidFill>
                  <a:srgbClr val="059669"/>
                </a:solidFill>
              </a:rPr>
              <a:t>Percentage Match: </a:t>
            </a:r>
            <a:r>
              <a:rPr sz="1600" b="0">
                <a:solidFill>
                  <a:srgbClr val="334155"/>
                </a:solidFill>
              </a:rPr>
              <a:t>min(99%, round(0.894 × 100)) = 89% Match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4F46E5"/>
                </a:solidFill>
                <a:latin typeface="Arial"/>
              </a:defRPr>
            </a:pPr>
            <a:r>
              <a:t>6. CONTENT-BASED FILTERING (CBF)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000" b="1">
                <a:solidFill>
                  <a:srgbClr val="0F172A"/>
                </a:solidFill>
                <a:latin typeface="Helvetica"/>
              </a:defRPr>
            </a:pPr>
            <a:r>
              <a:t>Actual Results: 'More Like This' for Naruto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1069848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00">
                <a:solidFill>
                  <a:srgbClr val="64748B"/>
                </a:solidFill>
                <a:latin typeface="Arial"/>
              </a:defRPr>
            </a:pPr>
            <a:r>
              <a:t>Top similar anime generated from our actual catalog using 29-genre Cosine Similarity.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783080"/>
          <a:ext cx="10728655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3291840"/>
                <a:gridCol w="3962095"/>
                <a:gridCol w="1005840"/>
                <a:gridCol w="822960"/>
                <a:gridCol w="914400"/>
              </a:tblGrid>
              <a:tr h="50800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9333EA"/>
                          </a:solidFill>
                          <a:latin typeface="Helvetica"/>
                        </a:defRPr>
                      </a:pPr>
                      <a:r>
                        <a:t>Rank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9333EA"/>
                          </a:solidFill>
                          <a:latin typeface="Helvetica"/>
                        </a:defRPr>
                      </a:pPr>
                      <a:r>
                        <a:t>Similar Anime Title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9333EA"/>
                          </a:solidFill>
                          <a:latin typeface="Helvetica"/>
                        </a:defRPr>
                      </a:pPr>
                      <a:r>
                        <a:t>Genre Overlap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9333EA"/>
                          </a:solidFill>
                          <a:latin typeface="Helvetica"/>
                        </a:defRPr>
                      </a:pPr>
                      <a:r>
                        <a:t>Rating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9333EA"/>
                          </a:solidFill>
                          <a:latin typeface="Helvetica"/>
                        </a:defRPr>
                      </a:pPr>
                      <a:r>
                        <a:t>Eps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9333EA"/>
                          </a:solidFill>
                          <a:latin typeface="Helvetica"/>
                        </a:defRPr>
                      </a:pPr>
                      <a:r>
                        <a:t>Cosine Sim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#1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Naruto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action, adventure, fantasy, martial arts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4.80 ★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220 ep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59669"/>
                          </a:solidFill>
                          <a:latin typeface="Arial"/>
                        </a:defRPr>
                      </a:pPr>
                      <a:r>
                        <a:t>1.000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#2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Hunter x Hunter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action, adventure, fantasy, shonen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4.85 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148 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59669"/>
                          </a:solidFill>
                          <a:latin typeface="Arial"/>
                        </a:defRPr>
                      </a:pPr>
                      <a:r>
                        <a:t>0.894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#3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One Piece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action, adventure, fantasy, shonen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4.70 ★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1135 ep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59669"/>
                          </a:solidFill>
                          <a:latin typeface="Arial"/>
                        </a:defRPr>
                      </a:pPr>
                      <a:r>
                        <a:t>0.894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#4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BORUTO: NARUTO NEXT GENERATIONS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action, adventure, fantasy, shonen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3.21 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148 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59669"/>
                          </a:solidFill>
                          <a:latin typeface="Arial"/>
                        </a:defRPr>
                      </a:pPr>
                      <a:r>
                        <a:t>0.894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#5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Magi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action, adventure, fantasy, shonen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4.69 ★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25 ep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59669"/>
                          </a:solidFill>
                          <a:latin typeface="Arial"/>
                        </a:defRPr>
                      </a:pPr>
                      <a:r>
                        <a:t>0.894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#6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RADIANT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action, adventure, fantasy, shonen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3.77 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42 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59669"/>
                          </a:solidFill>
                          <a:latin typeface="Arial"/>
                        </a:defRPr>
                      </a:pPr>
                      <a:r>
                        <a:t>0.894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#7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Z/X IGNITION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action, adventure, fantasy, shonen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4.00 ★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12 ep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59669"/>
                          </a:solidFill>
                          <a:latin typeface="Arial"/>
                        </a:defRPr>
                      </a:pPr>
                      <a:r>
                        <a:t>0.894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#8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Black Clover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action, adventure, comedy, fantasy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3.84 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127 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59669"/>
                          </a:solidFill>
                          <a:latin typeface="Arial"/>
                        </a:defRPr>
                      </a:pPr>
                      <a:r>
                        <a:t>0.800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4F46E5"/>
                </a:solidFill>
                <a:latin typeface="Arial"/>
              </a:defRPr>
            </a:pPr>
            <a:r>
              <a:t>7. KNOWLEDGE-BASED RECOMMENDATION (KBR)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000" b="1">
                <a:solidFill>
                  <a:srgbClr val="0F172A"/>
                </a:solidFill>
                <a:latin typeface="Helvetica"/>
              </a:defRPr>
            </a:pPr>
            <a:r>
              <a:t>Concept &amp; Situational Problem Solving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1069848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00">
                <a:solidFill>
                  <a:srgbClr val="64748B"/>
                </a:solidFill>
                <a:latin typeface="Arial"/>
              </a:defRPr>
            </a:pPr>
            <a:r>
              <a:t>Why users need explicit constraint matching instead of relying solely on past ratings.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18099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89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463235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200" b="1">
                <a:solidFill>
                  <a:srgbClr val="0891B2"/>
                </a:solidFill>
              </a:defRPr>
            </a:pPr>
            <a:r>
              <a:t>Situational Needs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0891B2"/>
                </a:solidFill>
              </a:rPr>
              <a:t>• </a:t>
            </a:r>
            <a:r>
              <a:rPr sz="1600" b="1">
                <a:solidFill>
                  <a:srgbClr val="0891B2"/>
                </a:solidFill>
              </a:rPr>
              <a:t>Real-World Contexts: </a:t>
            </a:r>
            <a:r>
              <a:rPr sz="1600" b="0">
                <a:solidFill>
                  <a:srgbClr val="334155"/>
                </a:solidFill>
              </a:rPr>
              <a:t>A viewer's available watching time changes constantly (e.g. quick 2-hour weekend vs 3-month commitment).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0891B2"/>
                </a:solidFill>
              </a:rPr>
              <a:t>• </a:t>
            </a:r>
            <a:r>
              <a:rPr sz="1600" b="1">
                <a:solidFill>
                  <a:srgbClr val="0891B2"/>
                </a:solidFill>
              </a:rPr>
              <a:t>Zero Cold-Start Dependency: </a:t>
            </a:r>
            <a:r>
              <a:rPr sz="1600" b="0">
                <a:solidFill>
                  <a:srgbClr val="334155"/>
                </a:solidFill>
              </a:rPr>
              <a:t>KBR requires zero past user ratings; it evaluates explicit immediate user requirements directly.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0891B2"/>
                </a:solidFill>
              </a:rPr>
              <a:t>• </a:t>
            </a:r>
            <a:r>
              <a:rPr sz="1600" b="1">
                <a:solidFill>
                  <a:srgbClr val="0891B2"/>
                </a:solidFill>
              </a:rPr>
              <a:t>High Precision: </a:t>
            </a:r>
            <a:r>
              <a:rPr sz="1600" b="0">
                <a:solidFill>
                  <a:srgbClr val="334155"/>
                </a:solidFill>
              </a:rPr>
              <a:t>Strictly eliminates anime that violate hard user constraints regardless of how popular they are.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0891B2"/>
                </a:solidFill>
              </a:rPr>
              <a:t>• </a:t>
            </a:r>
            <a:r>
              <a:rPr sz="1600" b="1">
                <a:solidFill>
                  <a:srgbClr val="0891B2"/>
                </a:solidFill>
              </a:rPr>
              <a:t>User Empowerment: </a:t>
            </a:r>
            <a:r>
              <a:rPr sz="1600" b="0">
                <a:solidFill>
                  <a:srgbClr val="334155"/>
                </a:solidFill>
              </a:rPr>
              <a:t>Gives viewers interactive control over the recommendation space.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8270" y="1783080"/>
            <a:ext cx="518099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52590" y="2148840"/>
            <a:ext cx="463235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200" b="1">
                <a:solidFill>
                  <a:srgbClr val="4F46E5"/>
                </a:solidFill>
              </a:defRPr>
            </a:pPr>
            <a:r>
              <a:t>KBR in ANIVIBE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4F46E5"/>
                </a:solidFill>
              </a:rPr>
              <a:t>• </a:t>
            </a:r>
            <a:r>
              <a:rPr sz="1600" b="1">
                <a:solidFill>
                  <a:srgbClr val="4F46E5"/>
                </a:solidFill>
              </a:rPr>
              <a:t>Constraint Box UI: </a:t>
            </a:r>
            <a:r>
              <a:rPr sz="1600" b="0">
                <a:solidFill>
                  <a:srgbClr val="334155"/>
                </a:solidFill>
              </a:rPr>
              <a:t>Integrated directly in the left sidebar of the 'Find What Fits' page.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4F46E5"/>
                </a:solidFill>
              </a:rPr>
              <a:t>• </a:t>
            </a:r>
            <a:r>
              <a:rPr sz="1600" b="1">
                <a:solidFill>
                  <a:srgbClr val="4F46E5"/>
                </a:solidFill>
              </a:rPr>
              <a:t>Domain Knowledge Encoding: </a:t>
            </a:r>
            <a:r>
              <a:rPr sz="1600" b="0">
                <a:solidFill>
                  <a:srgbClr val="334155"/>
                </a:solidFill>
              </a:rPr>
              <a:t>Encodes rules for episode commitment, quality thresholds, and must-include genres.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4F46E5"/>
                </a:solidFill>
              </a:rPr>
              <a:t>• </a:t>
            </a:r>
            <a:r>
              <a:rPr sz="1600" b="1">
                <a:solidFill>
                  <a:srgbClr val="4F46E5"/>
                </a:solidFill>
              </a:rPr>
              <a:t>Continuous Scoring: </a:t>
            </a:r>
            <a:r>
              <a:rPr sz="1600" b="0">
                <a:solidFill>
                  <a:srgbClr val="334155"/>
                </a:solidFill>
              </a:rPr>
              <a:t>Produces a continuous Fit Score (0.0 to 1.0) rather than a crude binary pass/fail cutoff.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4F46E5"/>
                </a:solidFill>
              </a:rPr>
              <a:t>• </a:t>
            </a:r>
            <a:r>
              <a:rPr sz="1600" b="1">
                <a:solidFill>
                  <a:srgbClr val="4F46E5"/>
                </a:solidFill>
              </a:rPr>
              <a:t>70% Weight in Hybrid: </a:t>
            </a:r>
            <a:r>
              <a:rPr sz="1600" b="0">
                <a:solidFill>
                  <a:srgbClr val="334155"/>
                </a:solidFill>
              </a:rPr>
              <a:t>Serves as the dominant 70% foundation in the hybrid recommendation system.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4F46E5"/>
                </a:solidFill>
                <a:latin typeface="Arial"/>
              </a:defRPr>
            </a:pPr>
            <a:r>
              <a:t>7. KNOWLEDGE-BASED RECOMMENDATION (KBR)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000" b="1">
                <a:solidFill>
                  <a:srgbClr val="0F172A"/>
                </a:solidFill>
                <a:latin typeface="Helvetica"/>
              </a:defRPr>
            </a:pPr>
            <a:r>
              <a:t>Constraint Solving &amp; Evaluation Rules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1069848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00">
                <a:solidFill>
                  <a:srgbClr val="64748B"/>
                </a:solidFill>
                <a:latin typeface="Arial"/>
              </a:defRPr>
            </a:pPr>
            <a:r>
              <a:t>The 3 core constraint rules evaluated against every catalog candidate.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728655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89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10180015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200" b="1">
                <a:solidFill>
                  <a:srgbClr val="0891B2"/>
                </a:solidFill>
              </a:defRPr>
            </a:pPr>
            <a:r>
              <a:t>The 3 Core Constraint Rules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0891B2"/>
                </a:solidFill>
              </a:rPr>
              <a:t>• </a:t>
            </a:r>
            <a:r>
              <a:rPr sz="1600" b="1">
                <a:solidFill>
                  <a:srgbClr val="0891B2"/>
                </a:solidFill>
              </a:rPr>
              <a:t>Rule 1: Episode Commitment (Hard Limit): </a:t>
            </a:r>
            <a:r>
              <a:rPr sz="1600" b="0">
                <a:solidFill>
                  <a:srgbClr val="334155"/>
                </a:solidFill>
              </a:rPr>
              <a:t>User selects maximum allowable episode length: episodes ≤ max_episodes. Presets include Short (≤ 13 eps), Medium (≤ 26 eps), Standard (≤ 50 eps), or Any (100 eps).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0891B2"/>
                </a:solidFill>
              </a:rPr>
              <a:t>• </a:t>
            </a:r>
            <a:r>
              <a:rPr sz="1600" b="1">
                <a:solidFill>
                  <a:srgbClr val="0891B2"/>
                </a:solidFill>
              </a:rPr>
              <a:t>Rule 2: Minimum Quality (Hard Threshold): </a:t>
            </a:r>
            <a:r>
              <a:rPr sz="1600" b="0">
                <a:solidFill>
                  <a:srgbClr val="334155"/>
                </a:solidFill>
              </a:rPr>
              <a:t>User sets a minimum acceptable viewer score: rate ≥ min_rating (range: 2.5 to 4.8 ★). Ensures low-quality productions are filtered out immediately.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0891B2"/>
                </a:solidFill>
              </a:rPr>
              <a:t>• </a:t>
            </a:r>
            <a:r>
              <a:rPr sz="1600" b="1">
                <a:solidFill>
                  <a:srgbClr val="0891B2"/>
                </a:solidFill>
              </a:rPr>
              <a:t>Rule 3: Must Include Genres (Hard Requirement): </a:t>
            </a:r>
            <a:r>
              <a:rPr sz="1600" b="0">
                <a:solidFill>
                  <a:srgbClr val="334155"/>
                </a:solidFill>
              </a:rPr>
              <a:t>User selects mandatory genres (e.g. Action, Romance). All selected required genres must be present in the candidate anime's genre set.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0891B2"/>
                </a:solidFill>
              </a:rPr>
              <a:t>• </a:t>
            </a:r>
            <a:r>
              <a:rPr sz="1600" b="1">
                <a:solidFill>
                  <a:srgbClr val="0891B2"/>
                </a:solidFill>
              </a:rPr>
              <a:t>Streamlined Design Decision: </a:t>
            </a:r>
            <a:r>
              <a:rPr sz="1600" b="0">
                <a:solidFill>
                  <a:srgbClr val="334155"/>
                </a:solidFill>
              </a:rPr>
              <a:t>Viewing Moods and Avoid Genres were removed per final architectural refinement to maintain an intuitive, clean interface.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4F46E5"/>
                </a:solidFill>
                <a:latin typeface="Arial"/>
              </a:defRPr>
            </a:pPr>
            <a:r>
              <a:t>7. KNOWLEDGE-BASED RECOMMENDATION (KBR)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000" b="1">
                <a:solidFill>
                  <a:srgbClr val="0F172A"/>
                </a:solidFill>
                <a:latin typeface="Helvetica"/>
              </a:defRPr>
            </a:pPr>
            <a:r>
              <a:t>Continuous Fit Score Formulation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1069848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00">
                <a:solidFill>
                  <a:srgbClr val="64748B"/>
                </a:solidFill>
                <a:latin typeface="Arial"/>
              </a:defRPr>
            </a:pPr>
            <a:r>
              <a:t>How constraint satisfaction is converted into a normalized 0.0 to 1.0 fit score.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728655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89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10180015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 b="1">
                <a:solidFill>
                  <a:srgbClr val="0891B2"/>
                </a:solidFill>
              </a:defRPr>
            </a:pPr>
            <a:r>
              <a:t>Continuous KBR Scoring Formula</a:t>
            </a:r>
          </a:p>
          <a:p>
            <a:pPr>
              <a:spcAft>
                <a:spcPts val="1600"/>
              </a:spcAft>
              <a:defRPr sz="2000" b="1">
                <a:solidFill>
                  <a:srgbClr val="059669"/>
                </a:solidFill>
              </a:defRPr>
            </a:pPr>
            <a:r>
              <a:t>Score_KBR = Baseline(0.85) + Quality_Bonus + Proximity_Bonus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0891B2"/>
                </a:solidFill>
              </a:rPr>
              <a:t>• </a:t>
            </a:r>
            <a:r>
              <a:rPr sz="1600" b="1">
                <a:solidFill>
                  <a:srgbClr val="0891B2"/>
                </a:solidFill>
              </a:rPr>
              <a:t>Hard Constraint Gate: </a:t>
            </a:r>
            <a:r>
              <a:rPr sz="1600" b="0">
                <a:solidFill>
                  <a:srgbClr val="334155"/>
                </a:solidFill>
              </a:rPr>
              <a:t>If any hard rule (episodes, min_rating, required_genres) fails, Score_KBR = 0.0 (strictly filtered out).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0891B2"/>
                </a:solidFill>
              </a:rPr>
              <a:t>• </a:t>
            </a:r>
            <a:r>
              <a:rPr sz="1600" b="1">
                <a:solidFill>
                  <a:srgbClr val="0891B2"/>
                </a:solidFill>
              </a:rPr>
              <a:t>Baseline Satisfaction (0.85): </a:t>
            </a:r>
            <a:r>
              <a:rPr sz="1600" b="0">
                <a:solidFill>
                  <a:srgbClr val="334155"/>
                </a:solidFill>
              </a:rPr>
              <a:t>All titles that successfully satisfy all hard constraints receive a strong base score of 0.85.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0891B2"/>
                </a:solidFill>
              </a:rPr>
              <a:t>• </a:t>
            </a:r>
            <a:r>
              <a:rPr sz="1600" b="1">
                <a:solidFill>
                  <a:srgbClr val="0891B2"/>
                </a:solidFill>
              </a:rPr>
              <a:t>Quality Bonus (0.00 to 0.10): </a:t>
            </a:r>
            <a:r>
              <a:rPr sz="1600" b="0">
                <a:solidFill>
                  <a:srgbClr val="334155"/>
                </a:solidFill>
              </a:rPr>
              <a:t>Calculated as min(0.10, max(0.0, (rate - 3.5) / 15.0)). Rewards exceptional critically acclaimed anime.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0891B2"/>
                </a:solidFill>
              </a:rPr>
              <a:t>• </a:t>
            </a:r>
            <a:r>
              <a:rPr sz="1600" b="1">
                <a:solidFill>
                  <a:srgbClr val="0891B2"/>
                </a:solidFill>
              </a:rPr>
              <a:t>Proximity Bonus (0.00 to 0.05): </a:t>
            </a:r>
            <a:r>
              <a:rPr sz="1600" b="0">
                <a:solidFill>
                  <a:srgbClr val="334155"/>
                </a:solidFill>
              </a:rPr>
              <a:t>Calculated as 0.05 × [1.0 - (episodes / (max_episodes × 2.0))]. Rewards titles that fit comfortably within the time limit.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0891B2"/>
                </a:solidFill>
              </a:rPr>
              <a:t>• </a:t>
            </a:r>
            <a:r>
              <a:rPr sz="1600" b="1">
                <a:solidFill>
                  <a:srgbClr val="0891B2"/>
                </a:solidFill>
              </a:rPr>
              <a:t>Normalized Bound: </a:t>
            </a:r>
            <a:r>
              <a:rPr sz="1600" b="0">
                <a:solidFill>
                  <a:srgbClr val="334155"/>
                </a:solidFill>
              </a:rPr>
              <a:t>Score_KBR is strictly bounded: 0.0 ≤ Score_KBR ≤ 1.0.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4F46E5"/>
                </a:solidFill>
                <a:latin typeface="Arial"/>
              </a:defRPr>
            </a:pPr>
            <a:r>
              <a:t>8. HYBRID RECOMMENDATION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000" b="1">
                <a:solidFill>
                  <a:srgbClr val="0F172A"/>
                </a:solidFill>
                <a:latin typeface="Helvetica"/>
              </a:defRPr>
            </a:pPr>
            <a:r>
              <a:t>Concept &amp; 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1069848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00">
                <a:solidFill>
                  <a:srgbClr val="64748B"/>
                </a:solidFill>
                <a:latin typeface="Arial"/>
              </a:defRPr>
            </a:pPr>
            <a:r>
              <a:t>Combining 70% situational requirements with 40% multi-anime user taste profile.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18099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463235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200" b="1">
                <a:solidFill>
                  <a:srgbClr val="059669"/>
                </a:solidFill>
              </a:defRPr>
            </a:pPr>
            <a:r>
              <a:t>Why 70/40 Hybrid Fusion?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059669"/>
                </a:solidFill>
              </a:rPr>
              <a:t>• </a:t>
            </a:r>
            <a:r>
              <a:rPr sz="1600" b="1">
                <a:solidFill>
                  <a:srgbClr val="059669"/>
                </a:solidFill>
              </a:rPr>
              <a:t>Taste Alone Is Not Enough: </a:t>
            </a:r>
            <a:r>
              <a:rPr sz="1600" b="0">
                <a:solidFill>
                  <a:srgbClr val="334155"/>
                </a:solidFill>
              </a:rPr>
              <a:t>A series may match your taste 100%, but if it has 500 episodes when you have only 2 hours, you cannot watch it.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059669"/>
                </a:solidFill>
              </a:rPr>
              <a:t>• </a:t>
            </a:r>
            <a:r>
              <a:rPr sz="1600" b="1">
                <a:solidFill>
                  <a:srgbClr val="059669"/>
                </a:solidFill>
              </a:rPr>
              <a:t>Constraints Alone Lack Taste: </a:t>
            </a:r>
            <a:r>
              <a:rPr sz="1600" b="0">
                <a:solidFill>
                  <a:srgbClr val="334155"/>
                </a:solidFill>
              </a:rPr>
              <a:t>A 12-episode show with 4.8 ★ is useless if it is in a genre you dislike.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059669"/>
                </a:solidFill>
              </a:rPr>
              <a:t>• </a:t>
            </a:r>
            <a:r>
              <a:rPr sz="1600" b="1">
                <a:solidFill>
                  <a:srgbClr val="059669"/>
                </a:solidFill>
              </a:rPr>
              <a:t>The 70/40 Balance: </a:t>
            </a:r>
            <a:r>
              <a:rPr sz="1600" b="0">
                <a:solidFill>
                  <a:srgbClr val="334155"/>
                </a:solidFill>
              </a:rPr>
              <a:t>Allocates 70% weight to situational feasibility and 40% weight to accumulated user genre taste.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059669"/>
                </a:solidFill>
              </a:rPr>
              <a:t>• </a:t>
            </a:r>
            <a:r>
              <a:rPr sz="1600" b="1">
                <a:solidFill>
                  <a:srgbClr val="059669"/>
                </a:solidFill>
              </a:rPr>
              <a:t>Unified Discovery Page: </a:t>
            </a:r>
            <a:r>
              <a:rPr sz="1600" b="0">
                <a:solidFill>
                  <a:srgbClr val="334155"/>
                </a:solidFill>
              </a:rPr>
              <a:t>Powers the main 'Find What Fits' page in ANIVIBE.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8270" y="1783080"/>
            <a:ext cx="518099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52590" y="2148840"/>
            <a:ext cx="463235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200" b="1">
                <a:solidFill>
                  <a:srgbClr val="4F46E5"/>
                </a:solidFill>
              </a:defRPr>
            </a:pPr>
            <a:r>
              <a:t>System Architecture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4F46E5"/>
                </a:solidFill>
              </a:rPr>
              <a:t>• </a:t>
            </a:r>
            <a:r>
              <a:rPr sz="1600" b="1">
                <a:solidFill>
                  <a:srgbClr val="4F46E5"/>
                </a:solidFill>
              </a:rPr>
              <a:t>Left: Constraint Controls: </a:t>
            </a:r>
            <a:r>
              <a:rPr sz="1600" b="0">
                <a:solidFill>
                  <a:srgbClr val="334155"/>
                </a:solidFill>
              </a:rPr>
              <a:t>Interactive sliders for episode limits, minimum quality, and required genres.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4F46E5"/>
                </a:solidFill>
              </a:rPr>
              <a:t>• </a:t>
            </a:r>
            <a:r>
              <a:rPr sz="1600" b="1">
                <a:solidFill>
                  <a:srgbClr val="4F46E5"/>
                </a:solidFill>
              </a:rPr>
              <a:t>Sidebar: Taste Profile Card: </a:t>
            </a:r>
            <a:r>
              <a:rPr sz="1600" b="0">
                <a:solidFill>
                  <a:srgbClr val="334155"/>
                </a:solidFill>
              </a:rPr>
              <a:t>Displays live status of aggregated user profile vector and number of rated titles.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4F46E5"/>
                </a:solidFill>
              </a:rPr>
              <a:t>• </a:t>
            </a:r>
            <a:r>
              <a:rPr sz="1600" b="1">
                <a:solidFill>
                  <a:srgbClr val="4F46E5"/>
                </a:solidFill>
              </a:rPr>
              <a:t>Right: Ranked Stream: </a:t>
            </a:r>
            <a:r>
              <a:rPr sz="1600" b="0">
                <a:solidFill>
                  <a:srgbClr val="334155"/>
                </a:solidFill>
              </a:rPr>
              <a:t>Candidate anime sorted descending by the unified 70/40 Hybrid score.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4F46E5"/>
                </a:solidFill>
              </a:rPr>
              <a:t>• </a:t>
            </a:r>
            <a:r>
              <a:rPr sz="1600" b="1">
                <a:solidFill>
                  <a:srgbClr val="4F46E5"/>
                </a:solidFill>
              </a:rPr>
              <a:t>Dual-Score Badges: </a:t>
            </a:r>
            <a:r>
              <a:rPr sz="1600" b="0">
                <a:solidFill>
                  <a:srgbClr val="334155"/>
                </a:solidFill>
              </a:rPr>
              <a:t>Displays individual 'Fit X%' and 'Taste Y%' scores alongside overall match %.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4F46E5"/>
                </a:solidFill>
                <a:latin typeface="Arial"/>
              </a:defRPr>
            </a:pPr>
            <a:r>
              <a:t>8. HYBRID RECOMMENDATION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000" b="1">
                <a:solidFill>
                  <a:srgbClr val="0F172A"/>
                </a:solidFill>
                <a:latin typeface="Helvetica"/>
              </a:defRPr>
            </a:pPr>
            <a:r>
              <a:t>Multi-Anime User Taste Profile Vector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1069848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00">
                <a:solidFill>
                  <a:srgbClr val="64748B"/>
                </a:solidFill>
                <a:latin typeface="Arial"/>
              </a:defRPr>
            </a:pPr>
            <a:r>
              <a:t>Crucial Design: The system aggregates ALL rated anime genres into a single user vector.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728655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933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10180015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 b="1">
                <a:solidFill>
                  <a:srgbClr val="9333EA"/>
                </a:solidFill>
              </a:defRPr>
            </a:pPr>
            <a:r>
              <a:t>Single Composite User Profile Vector Construction</a:t>
            </a:r>
          </a:p>
          <a:p>
            <a:pPr>
              <a:spcAft>
                <a:spcPts val="1600"/>
              </a:spcAft>
              <a:defRPr sz="2000" b="1">
                <a:solidFill>
                  <a:srgbClr val="4F46E5"/>
                </a:solidFill>
              </a:defRPr>
            </a:pPr>
            <a:r>
              <a:t>U_profile = ∑ [ v_i ]   for all rated anime i ∈ User_Ratings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9333EA"/>
                </a:solidFill>
              </a:rPr>
              <a:t>• </a:t>
            </a:r>
            <a:r>
              <a:rPr sz="1600" b="1">
                <a:solidFill>
                  <a:srgbClr val="9333EA"/>
                </a:solidFill>
              </a:rPr>
              <a:t>NOT Single-Anime Comparison: </a:t>
            </a:r>
            <a:r>
              <a:rPr sz="1600" b="0">
                <a:solidFill>
                  <a:srgbClr val="334155"/>
                </a:solidFill>
              </a:rPr>
              <a:t>The CBR component in the hybrid system does NOT compare against just one reference anime. It reflects the user's entire accumulated taste.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9333EA"/>
                </a:solidFill>
              </a:rPr>
              <a:t>• </a:t>
            </a:r>
            <a:r>
              <a:rPr sz="1600" b="1">
                <a:solidFill>
                  <a:srgbClr val="9333EA"/>
                </a:solidFill>
              </a:rPr>
              <a:t>Vector Aggregation: </a:t>
            </a:r>
            <a:r>
              <a:rPr sz="1600" b="0">
                <a:solidFill>
                  <a:srgbClr val="334155"/>
                </a:solidFill>
              </a:rPr>
              <a:t>When a user rates Naruto (Action, Shonen, Martial Arts) and Death Note (Mystery, Psychological, Supernatural), both genre vectors sum into U_profile.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9333EA"/>
                </a:solidFill>
              </a:rPr>
              <a:t>• </a:t>
            </a:r>
            <a:r>
              <a:rPr sz="1600" b="1">
                <a:solidFill>
                  <a:srgbClr val="9333EA"/>
                </a:solidFill>
              </a:rPr>
              <a:t>Weighted Genre Affinity: </a:t>
            </a:r>
            <a:r>
              <a:rPr sz="1600" b="0">
                <a:solidFill>
                  <a:srgbClr val="334155"/>
                </a:solidFill>
              </a:rPr>
              <a:t>Genres appearing multiple times across rated titles naturally receive higher weights in U_profile.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9333EA"/>
                </a:solidFill>
              </a:rPr>
              <a:t>• </a:t>
            </a:r>
            <a:r>
              <a:rPr sz="1600" b="1">
                <a:solidFill>
                  <a:srgbClr val="9333EA"/>
                </a:solidFill>
              </a:rPr>
              <a:t>Cosine Similarity Evaluation: </a:t>
            </a:r>
            <a:r>
              <a:rPr sz="1600" b="0">
                <a:solidFill>
                  <a:srgbClr val="334155"/>
                </a:solidFill>
              </a:rPr>
              <a:t>The composite vector U_profile is compared against candidate anime vector v_candidate: Score_CBR = CosineSim(U_profile, v_candidate).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4F46E5"/>
                </a:solidFill>
                <a:latin typeface="Arial"/>
              </a:defRPr>
            </a:pPr>
            <a:r>
              <a:t>8. HYBRID RECOMMENDATION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000" b="1">
                <a:solidFill>
                  <a:srgbClr val="0F172A"/>
                </a:solidFill>
                <a:latin typeface="Helvetica"/>
              </a:defRPr>
            </a:pPr>
            <a:r>
              <a:t>The 70/40 Hybrid Mathematical Formula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1069848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00">
                <a:solidFill>
                  <a:srgbClr val="64748B"/>
                </a:solidFill>
                <a:latin typeface="Arial"/>
              </a:defRPr>
            </a:pPr>
            <a:r>
              <a:t>Exact weighted fusion combining 70% KBR constraint fit and 40% CBR user taste.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728655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10180015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 b="1">
                <a:solidFill>
                  <a:srgbClr val="059669"/>
                </a:solidFill>
              </a:defRPr>
            </a:pPr>
            <a:r>
              <a:t>The 70/40 Mathematical Formula</a:t>
            </a:r>
          </a:p>
          <a:p>
            <a:pPr>
              <a:spcAft>
                <a:spcPts val="1600"/>
              </a:spcAft>
              <a:defRPr sz="2200" b="1">
                <a:solidFill>
                  <a:srgbClr val="4F46E5"/>
                </a:solidFill>
              </a:defRPr>
            </a:pPr>
            <a:r>
              <a:t>Score_Hybrid = 0.70 × Score_KBR  +  0.40 × Score_CBR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059669"/>
                </a:solidFill>
              </a:rPr>
              <a:t>• </a:t>
            </a:r>
            <a:r>
              <a:rPr sz="1600" b="1">
                <a:solidFill>
                  <a:srgbClr val="059669"/>
                </a:solidFill>
              </a:rPr>
              <a:t>70% Weight (KBR Fit): </a:t>
            </a:r>
            <a:r>
              <a:rPr sz="1600" b="0">
                <a:solidFill>
                  <a:srgbClr val="334155"/>
                </a:solidFill>
              </a:rPr>
              <a:t>0.70 × Score_KBR: Prioritizes hard constraint satisfaction (episode commitment, minimum rating, required genres).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059669"/>
                </a:solidFill>
              </a:rPr>
              <a:t>• </a:t>
            </a:r>
            <a:r>
              <a:rPr sz="1600" b="1">
                <a:solidFill>
                  <a:srgbClr val="059669"/>
                </a:solidFill>
              </a:rPr>
              <a:t>40% Weight (CBR Taste): </a:t>
            </a:r>
            <a:r>
              <a:rPr sz="1600" b="0">
                <a:solidFill>
                  <a:srgbClr val="334155"/>
                </a:solidFill>
              </a:rPr>
              <a:t>0.40 × Score_CBR: Infuses personal taste from the multi-anime aggregated user profile vector.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059669"/>
                </a:solidFill>
              </a:rPr>
              <a:t>• </a:t>
            </a:r>
            <a:r>
              <a:rPr sz="1600" b="1">
                <a:solidFill>
                  <a:srgbClr val="059669"/>
                </a:solidFill>
              </a:rPr>
              <a:t>Combined Match Percentage: </a:t>
            </a:r>
            <a:r>
              <a:rPr sz="1600" b="0">
                <a:solidFill>
                  <a:srgbClr val="334155"/>
                </a:solidFill>
              </a:rPr>
              <a:t>Match_Pct = min(99%, max(15%, round((Score_Hybrid / 1.10) × 100))). Normalizes total potential score (0.70 + 0.40 = 1.10) to 100%.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059669"/>
                </a:solidFill>
              </a:rPr>
              <a:t>• </a:t>
            </a:r>
            <a:r>
              <a:rPr sz="1600" b="1">
                <a:solidFill>
                  <a:srgbClr val="059669"/>
                </a:solidFill>
              </a:rPr>
              <a:t>Clean Card Presentation: </a:t>
            </a:r>
            <a:r>
              <a:rPr sz="1600" b="0">
                <a:solidFill>
                  <a:srgbClr val="334155"/>
                </a:solidFill>
              </a:rPr>
              <a:t>Cards display overall Match % alongside dual-score pills (Taste X% • Fit Y%) without distracting reasons accordions.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4F46E5"/>
                </a:solidFill>
                <a:latin typeface="Arial"/>
              </a:defRPr>
            </a:pPr>
            <a:r>
              <a:t>8. HYBRID RECOMMENDATION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000" b="1">
                <a:solidFill>
                  <a:srgbClr val="0F172A"/>
                </a:solidFill>
                <a:latin typeface="Helvetica"/>
              </a:defRPr>
            </a:pPr>
            <a:r>
              <a:t>Cold-Start Handling &amp; Live Session Updates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1069848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00">
                <a:solidFill>
                  <a:srgbClr val="64748B"/>
                </a:solidFill>
                <a:latin typeface="Arial"/>
              </a:defRPr>
            </a:pPr>
            <a:r>
              <a:t>How the 70/40 Hybrid adapts dynamically to user interaction in real time.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18099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463235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200" b="1">
                <a:solidFill>
                  <a:srgbClr val="D97706"/>
                </a:solidFill>
              </a:defRPr>
            </a:pPr>
            <a:r>
              <a:t>State A: Cold-Start (0 Ratings)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D97706"/>
                </a:solidFill>
              </a:rPr>
              <a:t>• </a:t>
            </a:r>
            <a:r>
              <a:rPr sz="1600" b="1">
                <a:solidFill>
                  <a:srgbClr val="D97706"/>
                </a:solidFill>
              </a:rPr>
              <a:t>Zero Crashes: </a:t>
            </a:r>
            <a:r>
              <a:rPr sz="1600" b="0">
                <a:solidFill>
                  <a:srgbClr val="334155"/>
                </a:solidFill>
              </a:rPr>
              <a:t>When a user has rated 0 anime, Score_CBR defaults gracefully to 0.0.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D97706"/>
                </a:solidFill>
              </a:rPr>
              <a:t>• </a:t>
            </a:r>
            <a:r>
              <a:rPr sz="1600" b="1">
                <a:solidFill>
                  <a:srgbClr val="D97706"/>
                </a:solidFill>
              </a:rPr>
              <a:t>100% Functional: </a:t>
            </a:r>
            <a:r>
              <a:rPr sz="1600" b="0">
                <a:solidFill>
                  <a:srgbClr val="334155"/>
                </a:solidFill>
              </a:rPr>
              <a:t>The 70% KBR constraint component remains fully active, ranking candidates by constraint fit.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D97706"/>
                </a:solidFill>
              </a:rPr>
              <a:t>• </a:t>
            </a:r>
            <a:r>
              <a:rPr sz="1600" b="1">
                <a:solidFill>
                  <a:srgbClr val="D97706"/>
                </a:solidFill>
              </a:rPr>
              <a:t>Clear UI Notice: </a:t>
            </a:r>
            <a:r>
              <a:rPr sz="1600" b="0">
                <a:solidFill>
                  <a:srgbClr val="334155"/>
                </a:solidFill>
              </a:rPr>
              <a:t>Sidebar indicates: 'Taste profile inactive (0 rated anime). Rate any anime to activate 40% taste weighting.'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8270" y="1783080"/>
            <a:ext cx="518099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52590" y="2148840"/>
            <a:ext cx="463235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200" b="1">
                <a:solidFill>
                  <a:srgbClr val="059669"/>
                </a:solidFill>
              </a:defRPr>
            </a:pPr>
            <a:r>
              <a:t>State B: Active Taste Profile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059669"/>
                </a:solidFill>
              </a:rPr>
              <a:t>• </a:t>
            </a:r>
            <a:r>
              <a:rPr sz="1600" b="1">
                <a:solidFill>
                  <a:srgbClr val="059669"/>
                </a:solidFill>
              </a:rPr>
              <a:t>Instant Live Recalculation: </a:t>
            </a:r>
            <a:r>
              <a:rPr sz="1600" b="0">
                <a:solidFill>
                  <a:srgbClr val="334155"/>
                </a:solidFill>
              </a:rPr>
              <a:t>The moment a user rates any anime (via modal or card stars), sessionRatings updates in state.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059669"/>
                </a:solidFill>
              </a:rPr>
              <a:t>• </a:t>
            </a:r>
            <a:r>
              <a:rPr sz="1600" b="1">
                <a:solidFill>
                  <a:srgbClr val="059669"/>
                </a:solidFill>
              </a:rPr>
              <a:t>40% Taste Activates: </a:t>
            </a:r>
            <a:r>
              <a:rPr sz="1600" b="0">
                <a:solidFill>
                  <a:srgbClr val="334155"/>
                </a:solidFill>
              </a:rPr>
              <a:t>U_profile instantly incorporates the new title's genre vector.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059669"/>
                </a:solidFill>
              </a:rPr>
              <a:t>• </a:t>
            </a:r>
            <a:r>
              <a:rPr sz="1600" b="1">
                <a:solidFill>
                  <a:srgbClr val="059669"/>
                </a:solidFill>
              </a:rPr>
              <a:t>Real-Time Re-ranking: </a:t>
            </a:r>
            <a:r>
              <a:rPr sz="1600" b="0">
                <a:solidFill>
                  <a:srgbClr val="334155"/>
                </a:solidFill>
              </a:rPr>
              <a:t>Hybrid recommendations automatically refresh live on screen without page reload.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059669"/>
                </a:solidFill>
              </a:rPr>
              <a:t>• </a:t>
            </a:r>
            <a:r>
              <a:rPr sz="1600" b="1">
                <a:solidFill>
                  <a:srgbClr val="059669"/>
                </a:solidFill>
              </a:rPr>
              <a:t>Taste Badge: </a:t>
            </a:r>
            <a:r>
              <a:rPr sz="1600" b="0">
                <a:solidFill>
                  <a:srgbClr val="334155"/>
                </a:solidFill>
              </a:rPr>
              <a:t>Header badge updates to: 'N Rated Anime Active'.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4F46E5"/>
                </a:solidFill>
                <a:latin typeface="Arial"/>
              </a:defRPr>
            </a:pPr>
            <a:r>
              <a:t>9.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000" b="1">
                <a:solidFill>
                  <a:srgbClr val="0F172A"/>
                </a:solidFill>
                <a:latin typeface="Helvetica"/>
              </a:defRPr>
            </a:pPr>
            <a:r>
              <a:t>Key Takeaways &amp; Academic Contribution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1069848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00">
                <a:solidFill>
                  <a:srgbClr val="64748B"/>
                </a:solidFill>
                <a:latin typeface="Arial"/>
              </a:defRPr>
            </a:pPr>
            <a:r>
              <a:t>Summary of system accomplishments and architectural impact.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728655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10180015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200" b="1">
                <a:solidFill>
                  <a:srgbClr val="4F46E5"/>
                </a:solidFill>
              </a:defRPr>
            </a:pPr>
            <a:r>
              <a:t>Project Summary &amp; Outcomes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4F46E5"/>
                </a:solidFill>
              </a:rPr>
              <a:t>• </a:t>
            </a:r>
            <a:r>
              <a:rPr sz="1600" b="1">
                <a:solidFill>
                  <a:srgbClr val="4F46E5"/>
                </a:solidFill>
              </a:rPr>
              <a:t>1. Comprehensive Decision Support: </a:t>
            </a:r>
            <a:r>
              <a:rPr sz="1600" b="0">
                <a:solidFill>
                  <a:srgbClr val="334155"/>
                </a:solidFill>
              </a:rPr>
              <a:t>Successfully solved anime choice paralysis by addressing consensus, similarity, and situational constraints.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4F46E5"/>
                </a:solidFill>
              </a:rPr>
              <a:t>• </a:t>
            </a:r>
            <a:r>
              <a:rPr sz="1600" b="1">
                <a:solidFill>
                  <a:srgbClr val="4F46E5"/>
                </a:solidFill>
              </a:rPr>
              <a:t>2. Rigorous Paradigm Separation: </a:t>
            </a:r>
            <a:r>
              <a:rPr sz="1600" b="0">
                <a:solidFill>
                  <a:srgbClr val="334155"/>
                </a:solidFill>
              </a:rPr>
              <a:t>Clear distinction between Bayesian Popularity, 29-Genre Content-Based Filtering, Knowledge-Based Constraints, and 70/40 Hybrid Fusion.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4F46E5"/>
                </a:solidFill>
              </a:rPr>
              <a:t>• </a:t>
            </a:r>
            <a:r>
              <a:rPr sz="1600" b="1">
                <a:solidFill>
                  <a:srgbClr val="4F46E5"/>
                </a:solidFill>
              </a:rPr>
              <a:t>3. Multi-Anime Profile Vector Innovation: </a:t>
            </a:r>
            <a:r>
              <a:rPr sz="1600" b="0">
                <a:solidFill>
                  <a:srgbClr val="334155"/>
                </a:solidFill>
              </a:rPr>
              <a:t>Constructs a unified composite user taste vector U = ∑ v_i across all rated anime rather than crude single-item comparisons.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4F46E5"/>
                </a:solidFill>
              </a:rPr>
              <a:t>• </a:t>
            </a:r>
            <a:r>
              <a:rPr sz="1600" b="1">
                <a:solidFill>
                  <a:srgbClr val="4F46E5"/>
                </a:solidFill>
              </a:rPr>
              <a:t>4. Real-World Streaming Usability: </a:t>
            </a:r>
            <a:r>
              <a:rPr sz="1600" b="0">
                <a:solidFill>
                  <a:srgbClr val="334155"/>
                </a:solidFill>
              </a:rPr>
              <a:t>Zero-dependency client execution delivers instant recommendations with zero latency and complete offline reliability.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371600" y="1097280"/>
            <a:ext cx="9448495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0" y="1645920"/>
            <a:ext cx="853409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4400" b="1">
                <a:solidFill>
                  <a:srgbClr val="4F46E5"/>
                </a:solidFill>
              </a:defRPr>
            </a:pPr>
            <a:r>
              <a:t>Thank You!</a:t>
            </a:r>
          </a:p>
          <a:p>
            <a:pPr>
              <a:spcAft>
                <a:spcPts val="2400"/>
              </a:spcAft>
              <a:defRPr sz="2400" b="1">
                <a:solidFill>
                  <a:srgbClr val="0F172A"/>
                </a:solidFill>
              </a:defRPr>
            </a:pPr>
            <a:r>
              <a:t>ANIVIBE: Decision Support &amp; Recommendation System</a:t>
            </a:r>
          </a:p>
          <a:p>
            <a:pPr>
              <a:spcAft>
                <a:spcPts val="1600"/>
              </a:spcAft>
              <a:defRPr sz="2000">
                <a:solidFill>
                  <a:srgbClr val="9333EA"/>
                </a:solidFill>
              </a:defRPr>
            </a:pPr>
            <a:r>
              <a:t>Questions &amp; Academic Discussion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059669"/>
                </a:solidFill>
              </a:rPr>
              <a:t>• </a:t>
            </a:r>
            <a:r>
              <a:rPr sz="1600" b="1">
                <a:solidFill>
                  <a:srgbClr val="059669"/>
                </a:solidFill>
              </a:rPr>
              <a:t>Live Web Application: </a:t>
            </a:r>
            <a:r>
              <a:rPr sz="1600" b="0">
                <a:solidFill>
                  <a:srgbClr val="334155"/>
                </a:solidFill>
              </a:rPr>
              <a:t>Running locally at http://localhost:3000/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059669"/>
                </a:solidFill>
              </a:rPr>
              <a:t>• </a:t>
            </a:r>
            <a:r>
              <a:rPr sz="1600" b="1">
                <a:solidFill>
                  <a:srgbClr val="059669"/>
                </a:solidFill>
              </a:rPr>
              <a:t>GitHub Repository: </a:t>
            </a:r>
            <a:r>
              <a:rPr sz="1600" b="0">
                <a:solidFill>
                  <a:srgbClr val="334155"/>
                </a:solidFill>
              </a:rPr>
              <a:t>https://github.com/manisandar/anime-dsrs.git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059669"/>
                </a:solidFill>
              </a:rPr>
              <a:t>• </a:t>
            </a:r>
            <a:r>
              <a:rPr sz="1600" b="1">
                <a:solidFill>
                  <a:srgbClr val="059669"/>
                </a:solidFill>
              </a:rPr>
              <a:t>Course: </a:t>
            </a:r>
            <a:r>
              <a:rPr sz="1600" b="0">
                <a:solidFill>
                  <a:srgbClr val="334155"/>
                </a:solidFill>
              </a:rPr>
              <a:t>Assumption University — CSX/ITX 4207 Decision Support and Recommender Systems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