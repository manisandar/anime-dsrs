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005840"/>
            <a:ext cx="9997135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1371600"/>
            <a:ext cx="88998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6366F1"/>
                </a:solidFill>
                <a:latin typeface="Arial"/>
              </a:defRPr>
            </a:pPr>
            <a:r>
              <a:t>ASSUMPTION UNIVERSITY • VINCENT MARY SCHOOL OF SCIENCE &amp; TECHNOLOGY</a:t>
            </a:r>
          </a:p>
          <a:p>
            <a:pPr>
              <a:spcAft>
                <a:spcPts val="800"/>
              </a:spcAft>
              <a:defRPr sz="5000" b="1">
                <a:solidFill>
                  <a:srgbClr val="F8FAFC"/>
                </a:solidFill>
                <a:latin typeface="Helvetica"/>
              </a:defRPr>
            </a:pPr>
            <a:r>
              <a:t>ANIVIBE</a:t>
            </a:r>
          </a:p>
          <a:p>
            <a:pPr>
              <a:spcAft>
                <a:spcPts val="1800"/>
              </a:spcAft>
              <a:defRPr sz="2600" b="1">
                <a:solidFill>
                  <a:srgbClr val="A855F7"/>
                </a:solidFill>
                <a:latin typeface="Helvetica"/>
              </a:defRPr>
            </a:pPr>
            <a:r>
              <a:t>Anime Decision Support &amp; 1+1 Hybrid Recommendation System</a:t>
            </a:r>
          </a:p>
          <a:p>
            <a:pPr>
              <a:spcAft>
                <a:spcPts val="2800"/>
              </a:spcAft>
              <a:defRPr sz="2000">
                <a:solidFill>
                  <a:srgbClr val="E2E8F0"/>
                </a:solidFill>
                <a:latin typeface="Arial"/>
              </a:defRPr>
            </a:pPr>
            <a:r>
              <a:t>A modern decision intelligence platform combining genuine user taste with situational constraints.</a:t>
            </a:r>
          </a:p>
          <a:p>
            <a:pPr>
              <a:defRPr sz="1800" b="1">
                <a:solidFill>
                  <a:srgbClr val="06B6D4"/>
                </a:solidFill>
                <a:latin typeface="Arial"/>
              </a:defRPr>
            </a:pPr>
            <a:r>
              <a:t>Course: CSX/ITX 4207 Decision Support and Recommendation System</a:t>
            </a:r>
            <a:br/>
            <a:r>
              <a:t>Live App: https://minkhanttin-anivibe.static.hf.space   •   Code: github.com/manisandar/anime-dsrs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6366F1"/>
                </a:solidFill>
                <a:latin typeface="Arial"/>
              </a:defRPr>
            </a:pPr>
            <a:r>
              <a:t>PROJECT OVERVIEW &amp;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Helvetica"/>
              </a:defRPr>
            </a:pPr>
            <a:r>
              <a:t>Title 1 —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>
                <a:solidFill>
                  <a:srgbClr val="94A3B8"/>
                </a:solidFill>
                <a:latin typeface="Arial"/>
              </a:defRPr>
            </a:pPr>
            <a:r>
              <a:t>ANIVIBE: Decision Support &amp; Pure Content-Based Anime Recommender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516636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617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Motivation &amp; Problem Scope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The Choice Paradox: Streaming catalogs with 1,200+ titles cause decision paralysis; users spend 20–30 minutes browsing without watching.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Black-Box Mystery: Typical platforms push generic blockbusters without explaining why titles were selected.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Context Blind Spot: Traditional recommenders overlook current time constraints (episodes) and viewing moods.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Academic Objective: Build an explainable, responsive recommender grounded in rigorous decision science for Assumption University.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3815" y="1965960"/>
            <a:ext cx="516636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8135" y="2286000"/>
            <a:ext cx="4617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Core Solution Strategy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Pure Content-Based Filtering: Grounded strictly on CountVectorizer genre representations and Cosine Similarity.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Reference-Item Architecture: Any selected or rated anime becomes the reference item to discover similar titles.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No Rating Weighting: Star ratings indicate user selection/like; strictly eliminates arbitrary Rating - 3.0 math.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Transparent &amp; Explainable: Recommends Top-N similar titles with exact cosine similarity scores and visible genre tags.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965960"/>
            <a:ext cx="516636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286000"/>
            <a:ext cx="4617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The Choice Overload Problem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Massive Catalogs: Streaming services offer over 1,200+ anime titles.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Decision Fatigue: Viewers spend 20 to 30 minutes browsing endlessly.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Abandoned Sessions: Overwhelmed users often give up without watching anything.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Generic Carousels: Conventional homepages only promote the same top 10 blockbusters.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3815" y="1965960"/>
            <a:ext cx="516636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68135" y="2286000"/>
            <a:ext cx="4617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The Context Blind Spot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Ignores Time Limits: Recommending a 500-episode anime is useless when you only have tonight.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Ignores Viewer Mood: Recommenders ignore whether you feel like laughing or watching drama.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Only Looks Backward: Traditional systems only look at past ratings, not current needs.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Black-Box Suggestions: Users are rarely told why a title was selected for them.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6366F1"/>
                </a:solidFill>
                <a:latin typeface="Arial"/>
              </a:defRPr>
            </a:pPr>
            <a:r>
              <a:t>PROBLEM STATEMENT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Helvetica"/>
              </a:defRPr>
            </a:pPr>
            <a:r>
              <a:t>The 'Paradox of Choice' in Streaming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>
                <a:solidFill>
                  <a:srgbClr val="94A3B8"/>
                </a:solidFill>
                <a:latin typeface="Arial"/>
              </a:defRPr>
            </a:pPr>
            <a:r>
              <a:t>Why viewers struggle to pick an anime, and why typical recommenders fail.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6366F1"/>
                </a:solidFill>
                <a:latin typeface="Arial"/>
              </a:defRPr>
            </a:pPr>
            <a:r>
              <a:t>PROJECT VISION &amp;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Helvetica"/>
              </a:defRPr>
            </a:pPr>
            <a:r>
              <a:t>The ANIVIBE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>
                <a:solidFill>
                  <a:srgbClr val="94A3B8"/>
                </a:solidFill>
                <a:latin typeface="Arial"/>
              </a:defRPr>
            </a:pPr>
            <a:r>
              <a:t>A dual-purpose platform combining personal taste with situational decision rules.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10728655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31720"/>
            <a:ext cx="999713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600" b="1">
                <a:solidFill>
                  <a:srgbClr val="F8FAFC"/>
                </a:solidFill>
              </a:defRPr>
            </a:pPr>
            <a:r>
              <a:t>How ANIVIBE Bridges Taste and Situation</a:t>
            </a:r>
          </a:p>
          <a:p>
            <a:pPr>
              <a:spcAft>
                <a:spcPts val="1400"/>
              </a:spcAft>
              <a:defRPr sz="1900">
                <a:solidFill>
                  <a:srgbClr val="E2E8F0"/>
                </a:solidFill>
              </a:defRPr>
            </a:pPr>
            <a:r>
              <a:t>•  1. Taste Profile (Content-Based): Learns your favorite genres dynamically from your 1-to-5 star ratings without requiring fake synthetic user accounts.</a:t>
            </a:r>
          </a:p>
          <a:p>
            <a:pPr>
              <a:spcAft>
                <a:spcPts val="1400"/>
              </a:spcAft>
              <a:defRPr sz="1900">
                <a:solidFill>
                  <a:srgbClr val="E2E8F0"/>
                </a:solidFill>
              </a:defRPr>
            </a:pPr>
            <a:r>
              <a:t>•  2. Real-World Constraints (Knowledge-Based): Filters titles based on your current time budget (episode count), minimum score, and viewing mood.</a:t>
            </a:r>
          </a:p>
          <a:p>
            <a:pPr>
              <a:spcAft>
                <a:spcPts val="1400"/>
              </a:spcAft>
              <a:defRPr sz="1900">
                <a:solidFill>
                  <a:srgbClr val="E2E8F0"/>
                </a:solidFill>
              </a:defRPr>
            </a:pPr>
            <a:r>
              <a:t>•  3. 1+1 Hybrid Fusion ('Smart Match'): Combines 50% Personal Taste with 50% Situational Fit into a unified score so every recommendation fits both your taste and your schedule.</a:t>
            </a:r>
          </a:p>
          <a:p>
            <a:pPr>
              <a:spcAft>
                <a:spcPts val="1400"/>
              </a:spcAft>
              <a:defRPr sz="1900">
                <a:solidFill>
                  <a:srgbClr val="E2E8F0"/>
                </a:solidFill>
              </a:defRPr>
            </a:pPr>
            <a:r>
              <a:t>•  4. Transparent Explainability: Provides clear checklists showing why an anime matched or was excluded, eliminating black-box mystery.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6366F1"/>
                </a:solidFill>
                <a:latin typeface="Arial"/>
              </a:defRPr>
            </a:pPr>
            <a:r>
              <a:t>CORE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Helvetica"/>
              </a:defRPr>
            </a:pPr>
            <a:r>
              <a:t>4 Distinct Recommendation Paradigms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>
                <a:solidFill>
                  <a:srgbClr val="94A3B8"/>
                </a:solidFill>
                <a:latin typeface="Arial"/>
              </a:defRPr>
            </a:pPr>
            <a:r>
              <a:t>Strict academic separation between consensus, taste, rules, and hybrid fusion.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709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F59E0B"/>
                </a:solidFill>
              </a:defRPr>
            </a:pPr>
            <a:r>
              <a:t>1. Popularity Baseline • Consensus Ranking</a:t>
            </a:r>
          </a:p>
          <a:p>
            <a:pPr>
              <a:defRPr sz="1800">
                <a:solidFill>
                  <a:srgbClr val="E2E8F0"/>
                </a:solidFill>
              </a:defRPr>
            </a:pPr>
            <a:r>
              <a:t>Uses Bayesian smoothing to rank globally loved anime. Serves as the cold-start baseline for new visitors with 0 ratings.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3815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22415" y="2148840"/>
            <a:ext cx="4709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A855F7"/>
                </a:solidFill>
              </a:defRPr>
            </a:pPr>
            <a:r>
              <a:t>2. Content-Based Filtering • Genre Vector Space Model</a:t>
            </a:r>
          </a:p>
          <a:p>
            <a:pPr>
              <a:defRPr sz="1800">
                <a:solidFill>
                  <a:srgbClr val="E2E8F0"/>
                </a:solidFill>
              </a:defRPr>
            </a:pPr>
            <a:r>
              <a:t>Calculates cosine similarity across 29 genres. Powers 'More Like This' and builds user taste vectors from active ratings.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251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434840"/>
            <a:ext cx="4709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6B6D4"/>
                </a:solidFill>
              </a:defRPr>
            </a:pPr>
            <a:r>
              <a:t>3. Knowledge-Based Recommendation • Constraint Satisfaction &amp; Rules</a:t>
            </a:r>
          </a:p>
          <a:p>
            <a:pPr>
              <a:defRPr sz="1800">
                <a:solidFill>
                  <a:srgbClr val="E2E8F0"/>
                </a:solidFill>
              </a:defRPr>
            </a:pPr>
            <a:r>
              <a:t>Filters candidate anime using hard limits (episodes, rating) and soft domain rules (viewing mood) with clear explanations.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3815" y="4251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2415" y="4434840"/>
            <a:ext cx="4709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0B981"/>
                </a:solidFill>
              </a:defRPr>
            </a:pPr>
            <a:r>
              <a:t>4. 1+1 Hybrid Fusion • Smart Match Engine</a:t>
            </a:r>
          </a:p>
          <a:p>
            <a:pPr>
              <a:defRPr sz="1800">
                <a:solidFill>
                  <a:srgbClr val="E2E8F0"/>
                </a:solidFill>
              </a:defRPr>
            </a:pPr>
            <a:r>
              <a:t>Equally combines 50% User Taste with 50% Situational Fit. Solves overspecialization and provides personalized results.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6366F1"/>
                </a:solidFill>
                <a:latin typeface="Arial"/>
              </a:defRPr>
            </a:pPr>
            <a:r>
              <a:t>DATA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Helvetica"/>
              </a:defRPr>
            </a:pPr>
            <a:r>
              <a:t>Dataset &amp; Preprocessing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>
                <a:solidFill>
                  <a:srgbClr val="94A3B8"/>
                </a:solidFill>
                <a:latin typeface="Arial"/>
              </a:defRPr>
            </a:pPr>
            <a:r>
              <a:t>Authentic Crunchyroll streaming dataset with zero synthetic users.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Dataset Highlights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1,255 Cleaned Anime Titles: Complete metadata from the Crunchyroll catalog including synopsis, artwork, and episodes.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29 Binary Genre Features: Each anime is encoded into a 29-dimensional vector (Action, Shonen, Romance, Sci-Fi, etc.).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18,500+ Community Ratings: Authentic multi-star distribution histograms (1★ to 5★ votes) for every anime.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Zero Synthetic Users: All user tests are based on real interaction sessions, preserving academic integrity.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3815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8135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Evaluation Integrity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80/20 Train-Test Split: 20% of ratings were held out in a test vault to simulate unobserved future choices.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No Data Leakage: Evaluation metrics only test against the holdout set, guaranteeing objective benchmark scores.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Vector Normalization: L2 Euclidean normalization is applied to genre vectors to ensure fair cosine similarity comparisons.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Lightweight Catalog (&lt; 1 MB): Optimized JSON format loads in milliseconds and runs directly in the browser.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6366F1"/>
                </a:solidFill>
                <a:latin typeface="Arial"/>
              </a:defRPr>
            </a:pPr>
            <a:r>
              <a:t>RECOMMENDATION PARADIGM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Helvetica"/>
              </a:defRPr>
            </a:pPr>
            <a:r>
              <a:t>Popularity Baseline (Bayesian Consensus)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>
                <a:solidFill>
                  <a:srgbClr val="94A3B8"/>
                </a:solidFill>
                <a:latin typeface="Arial"/>
              </a:defRPr>
            </a:pPr>
            <a:r>
              <a:t>Solving low-sample rating bias with weighted Bayesian consensus ranking.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F8FAFC"/>
                </a:solidFill>
              </a:defRPr>
            </a:pPr>
            <a:r>
              <a:t>Bayesian Rating Formula</a:t>
            </a:r>
          </a:p>
          <a:p>
            <a:pPr>
              <a:spcAft>
                <a:spcPts val="1600"/>
              </a:spcAft>
              <a:defRPr sz="2000" b="1">
                <a:solidFill>
                  <a:srgbClr val="06B6D4"/>
                </a:solidFill>
              </a:defRPr>
            </a:pPr>
            <a:r>
              <a:t>WR = ( v / (v + m) ) × R + ( m / (v + m) ) × C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v = Number of ratings/votes for this anime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m = Minimum vote threshold prior (m = 100 votes)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R = Average viewer rating for this anime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C = Global mean rating across the entire catalog (C = 3.65)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Weighted Consensus: As votes (v) increase, the score shifts smoothly from the global mean (C) to the anime's true rating (R).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3815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8135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Why This Prevents Unfair Bias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The 1-Vote Flaw: Without Bayesian smoothing, a movie with a single 5.0★ vote would rank #1 overall.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The Solution: With m = 100, an anime with 1 vote of 5.0★ drops to WR ≈ 3.66★ (pulled toward average).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Fair Classic Recognition: A popular classic with 4.8★ across 50,000 votes achieves WR ≈ 4.80★.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Role in ANIVIBE: Displayed on the Home page as 'Popular Right Now' to welcome new users with 0 ratings.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6366F1"/>
                </a:solidFill>
                <a:latin typeface="Arial"/>
              </a:defRPr>
            </a:pPr>
            <a:r>
              <a:t>RECOMMENDATION PARADIGM 2A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Helvetica"/>
              </a:defRPr>
            </a:pPr>
            <a:r>
              <a:t>Content-Based Filtering Core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>
                <a:solidFill>
                  <a:srgbClr val="94A3B8"/>
                </a:solidFill>
                <a:latin typeface="Arial"/>
              </a:defRPr>
            </a:pPr>
            <a:r>
              <a:t>CountVectorizer feature matrix + Cosine Similarity on anime genres.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F8FAFC"/>
                </a:solidFill>
              </a:defRPr>
            </a:pPr>
            <a:r>
              <a:t>CountVectorizer Genre Representation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Genre Normalization: Clean and normalize genre text across all 1,255 anime (lowercase, whitespace stripping).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sklearn CountVectorizer: Tokenizes anime genres into an exact 29-genre binary feature matrix.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Genre Feature Vector: Each anime is represented as a 29-dimensional vector where 1 indicates genre presence and 0 indicates absence.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Multi-Word Safety: Preserves compound genre tokens (e.g., 'martial arts', 'slice of life', 'sci-fi') accurately.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3815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8135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F8FAFC"/>
                </a:solidFill>
              </a:defRPr>
            </a:pPr>
            <a:r>
              <a:t>Cosine Similarity Formulation</a:t>
            </a:r>
          </a:p>
          <a:p>
            <a:pPr>
              <a:spcAft>
                <a:spcPts val="1600"/>
              </a:spcAft>
              <a:defRPr sz="2000" b="1">
                <a:solidFill>
                  <a:srgbClr val="06B6D4"/>
                </a:solidFill>
              </a:defRPr>
            </a:pPr>
            <a:r>
              <a:t>sim(A, B) = ( A • B ) / ( ||A|| × ||B|| )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Dot Product (A • B): Computes the exact count of shared overlapping genres between two titles.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Vector Norms (||A|| × ||B||): Normalizes score by vector lengths so titles with many genres do not artificially dominate.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Standard Library: Implemented via sklearn.metrics.pairwise.cosine_similarity.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Intuitive Range: Produces a clean similarity score from 0.00 (disjoint) to 1.00 (identical genre profile).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6366F1"/>
                </a:solidFill>
                <a:latin typeface="Arial"/>
              </a:defRPr>
            </a:pPr>
            <a:r>
              <a:t>RECOMMENDATION PARADIGM 2B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Helvetica"/>
              </a:defRPr>
            </a:pPr>
            <a:r>
              <a:t>Reference Anime Matching &amp;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>
                <a:solidFill>
                  <a:srgbClr val="94A3B8"/>
                </a:solidFill>
                <a:latin typeface="Arial"/>
              </a:defRPr>
            </a:pPr>
            <a:r>
              <a:t>User-selected reference item comparison with concrete mathematical step-by-step example.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F8FAFC"/>
                </a:solidFill>
              </a:defRPr>
            </a:pPr>
            <a:r>
              <a:t>Reference-Item Matching Architecture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Reference Selection: When user selects or rates Anime A (e.g. 5★), Anime A becomes the active reference anime.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No Rating Weighting: Rating indicates user selection/like; strictly avoids arbitrary Rating - 3.0 math.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Catalog Comparison: Anime A's genre vector is compared against all catalog titles via Cosine Similarity.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Self-Exclusion: The reference anime itself is strictly removed from the recommendation candidates.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Top-N Ranking: Remaining anime are sorted in descending order of similarity score to return Top-N.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3815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8135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F8FAFC"/>
                </a:solidFill>
              </a:defRPr>
            </a:pPr>
            <a:r>
              <a:t>Concrete Worked Example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</a:defRPr>
            </a:pPr>
            <a:r>
              <a:t>•  Anime A = Action, Fantasy  •  Anime B = Action, Adventure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</a:defRPr>
            </a:pPr>
            <a:r>
              <a:t>•  Anime C = Romance, Drama   •  Anime D = Action, Fantasy, Adv.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</a:defRPr>
            </a:pPr>
            <a:r>
              <a:t>•  sim(A, B) = 1 / (√2 × √2) = 0.50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</a:defRPr>
            </a:pPr>
            <a:r>
              <a:t>•  sim(A, C) = 0 / (√2 × √2) = 0.00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</a:defRPr>
            </a:pPr>
            <a:r>
              <a:t>•  sim(A, D) = 2 / (√2 × √3) = 2 / 2.449 ≈ 0.82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</a:defRPr>
            </a:pPr>
            <a:r>
              <a:t>•  Ranked Output for User Selecting Anime A:</a:t>
            </a:r>
            <a:br/>
            <a:r>
              <a:t>  1. Anime D — Sim: 0.82 (Action, Fantasy, Adventure)</a:t>
            </a:r>
            <a:br/>
            <a:r>
              <a:t>  2. Anime B — Sim: 0.50 (Action, Adventure)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6366F1"/>
                </a:solidFill>
                <a:latin typeface="Arial"/>
              </a:defRPr>
            </a:pPr>
            <a:r>
              <a:t>RECOMMENDATION PARADIGM 3A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Helvetica"/>
              </a:defRPr>
            </a:pPr>
            <a:r>
              <a:t>Knowledge-Based Decision Constraints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>
                <a:solidFill>
                  <a:srgbClr val="94A3B8"/>
                </a:solidFill>
                <a:latin typeface="Arial"/>
              </a:defRPr>
            </a:pPr>
            <a:r>
              <a:t>Evaluating user situation limits through hard constraint satisfaction.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Explicit Hard Constraints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Episode Budget Limit: Candidate must have episodes ≤ user limit (e.g. ≤ 13 eps for a single evening).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Minimum Quality Threshold: Candidate must have viewer score ≥ user minimum (e.g. rating ≥ 4.0★).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Required Genres: Candidate must include all selected required genres (e.g. must include Sci-Fi).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Excluded Genres: Candidate must NOT contain any forbidden genres (e.g. avoid Horror).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3815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8135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Domain Knowledge Rules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Viewing Commitment Rule: Categorizes anime length into clear commitment tiers:</a:t>
            </a:r>
            <a:br/>
            <a:r>
              <a:t>   - Short: ≤ 13 episodes (quick finish)</a:t>
            </a:r>
            <a:br/>
            <a:r>
              <a:t>   - Medium: 14 to 26 episodes (weekend binge)</a:t>
            </a:r>
            <a:br/>
            <a:r>
              <a:t>   - Long: &gt; 26 episodes (extended series)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Zero Past History Needed: Functions as an on-demand decision filter; works 100% on day one.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High Utility Focus: Guarantees that every returned title strictly fits the user's available time.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6366F1"/>
                </a:solidFill>
                <a:latin typeface="Arial"/>
              </a:defRPr>
            </a:pPr>
            <a:r>
              <a:t>RECOMMENDATION PARADIGM 3B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Helvetica"/>
              </a:defRPr>
            </a:pPr>
            <a:r>
              <a:t>Viewing Mood &amp; Explainable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>
                <a:solidFill>
                  <a:srgbClr val="94A3B8"/>
                </a:solidFill>
                <a:latin typeface="Arial"/>
              </a:defRPr>
            </a:pPr>
            <a:r>
              <a:t>Mapping emotional mood to genres and providing transparent reasoning checklists.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Mood-to-Genre Domain Mapping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Exciting Mood: Action, Shonen, Tournament, Super Power, Martial Arts.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Chill Mood: Slice of Life, Comedy, Light Romance.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Dark Mood: Psychological, Thriller, Horror, Mystery.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Emotional Mood: Drama, Romance, Emotional Slice of Life.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Soft Multiplier: Mood match provides an additive score bonus (+0.15) to boost candidate ranking.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3815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8135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Transparent Explainable AI (XAI)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Zero Black-Box Decisions: Users are never left wondering why an anime appeared.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Transparent Evaluation Checklist: Every title displays a clear verdict table:</a:t>
            </a:r>
            <a:br/>
            <a:r>
              <a:t>   - Episode Limit: Target ≤ 26 vs Actual 12 eps (Passed)</a:t>
            </a:r>
            <a:br/>
            <a:r>
              <a:t>   - Quality Score: Target ≥ 4.0 vs Actual 4.3★ (Passed)</a:t>
            </a:r>
            <a:br/>
            <a:r>
              <a:t>   - Mood Overlap: Matched 'Action, Shonen' (Passed)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Builds User Trust: Explaining the reasoning boosts viewer confidence in recommendations.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6366F1"/>
                </a:solidFill>
                <a:latin typeface="Arial"/>
              </a:defRPr>
            </a:pPr>
            <a:r>
              <a:t>RECOMMENDATION PARADIGM 4A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Helvetica"/>
              </a:defRPr>
            </a:pPr>
            <a:r>
              <a:t>1+1 Hybrid Fusion ('Smart Match')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>
                <a:solidFill>
                  <a:srgbClr val="94A3B8"/>
                </a:solidFill>
                <a:latin typeface="Arial"/>
              </a:defRPr>
            </a:pPr>
            <a:r>
              <a:t>Balancing personal taste with situational constraints in a unified mathematical model.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F8FAFC"/>
                </a:solidFill>
              </a:defRPr>
            </a:pPr>
            <a:r>
              <a:t>The Hybrid Formula</a:t>
            </a:r>
          </a:p>
          <a:p>
            <a:pPr>
              <a:spcAft>
                <a:spcPts val="1600"/>
              </a:spcAft>
              <a:defRPr sz="2000" b="1">
                <a:solidFill>
                  <a:srgbClr val="06B6D4"/>
                </a:solidFill>
              </a:defRPr>
            </a:pPr>
            <a:r>
              <a:t>Score_Hybrid = 0.50 × S_CBF + 0.50 × S_KBR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50% User Taste (S_CBF): Cosine similarity between candidate anime and the user's rated genre profile.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50% Requirement Fit (S_KBR): Continuous utility score reflecting episode fit, score bonus, and mood overlap.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Multi-Dimensional Scoring: Displays both individual match percentages (Taste % and Constraint %) alongside overall Hybrid Match %.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3815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8135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Why Both Components Are Vital</a:t>
            </a:r>
          </a:p>
          <a:p>
            <a:pPr>
              <a:spcAft>
                <a:spcPts val="1400"/>
              </a:spcAft>
              <a:defRPr sz="1800">
                <a:solidFill>
                  <a:srgbClr val="E2E8F0"/>
                </a:solidFill>
              </a:defRPr>
            </a:pPr>
            <a:r>
              <a:t>•  Taste Alone is Incomplete: A show may match your taste 100%, but if it has 500 episodes when you only have tonight, it is useless.</a:t>
            </a:r>
          </a:p>
          <a:p>
            <a:pPr>
              <a:spcAft>
                <a:spcPts val="1400"/>
              </a:spcAft>
              <a:defRPr sz="1800">
                <a:solidFill>
                  <a:srgbClr val="E2E8F0"/>
                </a:solidFill>
              </a:defRPr>
            </a:pPr>
            <a:r>
              <a:t>•  Constraints Alone Lack Flavor: A filter alone might find a 12-episode show with 4.5★, but in a genre you completely dislike.</a:t>
            </a:r>
          </a:p>
          <a:p>
            <a:pPr>
              <a:spcAft>
                <a:spcPts val="1400"/>
              </a:spcAft>
              <a:defRPr sz="1800">
                <a:solidFill>
                  <a:srgbClr val="E2E8F0"/>
                </a:solidFill>
              </a:defRPr>
            </a:pPr>
            <a:r>
              <a:t>•  The Synergy: The 1+1 Hybrid guarantees that every top recommendation is both genuinely loved AND realistically watchable right now.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6366F1"/>
                </a:solidFill>
                <a:latin typeface="Arial"/>
              </a:defRPr>
            </a:pPr>
            <a:r>
              <a:t>RECOMMENDATION PARADIGM 4B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Helvetica"/>
              </a:defRPr>
            </a:pPr>
            <a:r>
              <a:t>Cold-Start Handling &amp; Diversity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>
                <a:solidFill>
                  <a:srgbClr val="94A3B8"/>
                </a:solidFill>
                <a:latin typeface="Arial"/>
              </a:defRPr>
            </a:pPr>
            <a:r>
              <a:t>Switching hybrid architecture that eliminates cold-start crashes and overspecialization.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Graceful Cold-Start Strategy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0 Ratings Detection: When a visitor has not rated any titles, Smart Match detects cold-start immediately.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Interactive Onboarding: Shows a clean banner prompting the user to rate 2 or 3 titles to unlock taste scoring.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Switching Fallback: Seamlessly routes queries through Knowledge-Based constraint filters without throwing errors.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Zero System Crashes: Ensures 100% stability regardless of whether the user is brand new or an experienced rater.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3815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8135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Overcoming Overspecialization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The Echo Chamber Problem: Pure Content-Based recommenders suffer from low diversity (0.1334), trapping users in one genre.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Healthy Serendipity: Knowledge constraints (mood, length) pull candidates from neighboring genres that still fit the situation.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+51% Diversity Improvement: The 1+1 Hybrid increases recommendation diversity from 0.1334 to 0.2017.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Best of Both Worlds: Delivers fresh variety while preserving 100% relevance to the user's current needs.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6366F1"/>
                </a:solidFill>
                <a:latin typeface="Arial"/>
              </a:defRPr>
            </a:pPr>
            <a:r>
              <a:t>EMPIRICAL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Helvetica"/>
              </a:defRPr>
            </a:pPr>
            <a:r>
              <a:t>Academic Evaluation Benchmark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>
                <a:solidFill>
                  <a:srgbClr val="94A3B8"/>
                </a:solidFill>
                <a:latin typeface="Arial"/>
              </a:defRPr>
            </a:pPr>
            <a:r>
              <a:t>Offline benchmark results verified on holdout ratings (python3 recommender/evaluate.py).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965960"/>
          <a:ext cx="10728655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215"/>
                <a:gridCol w="1737360"/>
                <a:gridCol w="1737360"/>
                <a:gridCol w="1737360"/>
                <a:gridCol w="1737360"/>
              </a:tblGrid>
              <a:tr h="475488">
                <a:tc>
                  <a:txBody>
                    <a:bodyPr/>
                    <a:lstStyle/>
                    <a:p>
                      <a:pPr algn="l">
                        <a:defRPr sz="1800" b="1">
                          <a:solidFill>
                            <a:srgbClr val="F8FAFC"/>
                          </a:solidFill>
                        </a:defRPr>
                      </a:pPr>
                      <a:r>
                        <a:t>Recommendation Paradigm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8FAFC"/>
                          </a:solidFill>
                        </a:defRPr>
                      </a:pPr>
                      <a:r>
                        <a:t>Precision@10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8FAFC"/>
                          </a:solidFill>
                        </a:defRPr>
                      </a:pPr>
                      <a:r>
                        <a:t>Recall@10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8FAFC"/>
                          </a:solidFill>
                        </a:defRPr>
                      </a:pPr>
                      <a:r>
                        <a:t>Diversity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8FAFC"/>
                          </a:solidFill>
                        </a:defRPr>
                      </a:pPr>
                      <a:r>
                        <a:t>Coverage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defRPr sz="1800" b="1">
                          <a:solidFill>
                            <a:srgbClr val="F8FAFC"/>
                          </a:solidFill>
                        </a:defRPr>
                      </a:pPr>
                      <a:r>
                        <a:t>Popularity Baseline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F8FAFC"/>
                          </a:solidFill>
                        </a:defRPr>
                      </a:pPr>
                      <a:r>
                        <a:t>0.3000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F8FAFC"/>
                          </a:solidFill>
                        </a:defRPr>
                      </a:pPr>
                      <a:r>
                        <a:t>0.0158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F8FAFC"/>
                          </a:solidFill>
                        </a:defRPr>
                      </a:pPr>
                      <a:r>
                        <a:t>0.7801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F8FAFC"/>
                          </a:solidFill>
                        </a:defRPr>
                      </a:pPr>
                      <a:r>
                        <a:t>0.8%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defRPr sz="1800" b="1">
                          <a:solidFill>
                            <a:srgbClr val="F8FAFC"/>
                          </a:solidFill>
                        </a:defRPr>
                      </a:pPr>
                      <a:r>
                        <a:t>Content-Based Filtering (CBF)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F8FAFC"/>
                          </a:solidFill>
                        </a:defRPr>
                      </a:pPr>
                      <a:r>
                        <a:t>0.5500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F8FAFC"/>
                          </a:solidFill>
                        </a:defRPr>
                      </a:pPr>
                      <a:r>
                        <a:t>0.0380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F8FAFC"/>
                          </a:solidFill>
                        </a:defRPr>
                      </a:pPr>
                      <a:r>
                        <a:t>0.1334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F8FAFC"/>
                          </a:solidFill>
                        </a:defRPr>
                      </a:pPr>
                      <a:r>
                        <a:t>3.2%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defRPr sz="1800" b="1">
                          <a:solidFill>
                            <a:srgbClr val="F8FAFC"/>
                          </a:solidFill>
                        </a:defRPr>
                      </a:pPr>
                      <a:r>
                        <a:t>Knowledge-Based Filtering (KBR)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F8FAFC"/>
                          </a:solidFill>
                        </a:defRPr>
                      </a:pPr>
                      <a:r>
                        <a:t>0.7750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F8FAFC"/>
                          </a:solidFill>
                        </a:defRPr>
                      </a:pPr>
                      <a:r>
                        <a:t>0.0933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F8FAFC"/>
                          </a:solidFill>
                        </a:defRPr>
                      </a:pPr>
                      <a:r>
                        <a:t>0.5248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F8FAFC"/>
                          </a:solidFill>
                        </a:defRPr>
                      </a:pPr>
                      <a:r>
                        <a:t>2.4%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defRPr sz="1800" b="1">
                          <a:solidFill>
                            <a:srgbClr val="F8FAFC"/>
                          </a:solidFill>
                        </a:defRPr>
                      </a:pPr>
                      <a:r>
                        <a:t>1+1 Hybrid (CBF + KBR)</a:t>
                      </a:r>
                    </a:p>
                  </a:txBody>
                  <a:tcPr>
                    <a:solidFill>
                      <a:srgbClr val="272D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10B981"/>
                          </a:solidFill>
                        </a:defRPr>
                      </a:pPr>
                      <a:r>
                        <a:t>1.0000</a:t>
                      </a:r>
                    </a:p>
                  </a:txBody>
                  <a:tcPr>
                    <a:solidFill>
                      <a:srgbClr val="272D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10B981"/>
                          </a:solidFill>
                        </a:defRPr>
                      </a:pPr>
                      <a:r>
                        <a:t>0.1175</a:t>
                      </a:r>
                    </a:p>
                  </a:txBody>
                  <a:tcPr>
                    <a:solidFill>
                      <a:srgbClr val="272D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10B981"/>
                          </a:solidFill>
                        </a:defRPr>
                      </a:pPr>
                      <a:r>
                        <a:t>0.2017</a:t>
                      </a:r>
                    </a:p>
                  </a:txBody>
                  <a:tcPr>
                    <a:solidFill>
                      <a:srgbClr val="272D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10B981"/>
                          </a:solidFill>
                        </a:defRPr>
                      </a:pPr>
                      <a:r>
                        <a:t>3.2%</a:t>
                      </a:r>
                    </a:p>
                  </a:txBody>
                  <a:tcPr>
                    <a:solidFill>
                      <a:srgbClr val="272D4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4526280"/>
            <a:ext cx="1072865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709160"/>
            <a:ext cx="101800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6B6D4"/>
                </a:solidFill>
              </a:defRPr>
            </a:pPr>
            <a:r>
              <a:t>Key Defense Insights for Dr. Benjawan</a:t>
            </a:r>
          </a:p>
          <a:p>
            <a:pPr>
              <a:spcAft>
                <a:spcPts val="400"/>
              </a:spcAft>
              <a:defRPr sz="1800">
                <a:solidFill>
                  <a:srgbClr val="E2E8F0"/>
                </a:solidFill>
              </a:defRPr>
            </a:pPr>
            <a:r>
              <a:t>•  1. Highest Precision (1.0000): 1+1 Hybrid achieves perfect Top-10 relevant hits on test profiles by removing irrelevant lengths and targeting preferred genres.</a:t>
            </a:r>
          </a:p>
          <a:p>
            <a:pPr>
              <a:spcAft>
                <a:spcPts val="400"/>
              </a:spcAft>
              <a:defRPr sz="1800">
                <a:solidFill>
                  <a:srgbClr val="E2E8F0"/>
                </a:solidFill>
              </a:defRPr>
            </a:pPr>
            <a:r>
              <a:t>•  2. Resolves CBF Overspecialization: Boosts intra-list diversity from 0.1334 to 0.2017 (+51% increase) without losing relevance.</a:t>
            </a:r>
          </a:p>
          <a:p>
            <a:pPr>
              <a:spcAft>
                <a:spcPts val="400"/>
              </a:spcAft>
              <a:defRPr sz="1800">
                <a:solidFill>
                  <a:srgbClr val="E2E8F0"/>
                </a:solidFill>
              </a:defRPr>
            </a:pPr>
            <a:r>
              <a:t>•  3. Zero Data Leakage: Evaluated objectively against holdout test interactions using our automated test suite.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6366F1"/>
                </a:solidFill>
                <a:latin typeface="Arial"/>
              </a:defRPr>
            </a:pPr>
            <a:r>
              <a:t>USER EXPERIENCE &amp; 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Helvetica"/>
              </a:defRPr>
            </a:pPr>
            <a:r>
              <a:t>Modern Interactive Platform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>
                <a:solidFill>
                  <a:srgbClr val="94A3B8"/>
                </a:solidFill>
                <a:latin typeface="Arial"/>
              </a:defRPr>
            </a:pPr>
            <a:r>
              <a:t>Designed with streaming-grade aesthetics for effortless decision making.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Smart Match Decision Center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Interactive Sliders: Real-time control of maximum episode budgets (≤ 13, ≤ 26, ≤ 50 eps) and minimum rating thresholds.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Mood &amp; Genre Pills: One-click selection of viewing moods (Exciting, Chill, Dark, Emotional) and required/excluded genres.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Instant Mathematical Scores: Displays both Taste Match % and Requirement Fit % alongside the combined Hybrid Score %.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3815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8135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Detail View &amp; Discovery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Rating Distribution Histogram: Interactive 1-to-5 star vote breakdown bars located directly inside the anime hero container.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Netflix-Style Carousels: Reusable horizontal carousel rows for 'More Like This' and 'Recommended For You' with chevron navigation.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3D Responsive Canvas: Dynamic background particle grid responding to mouse movements across all pages.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Dark &amp; Light Mode: Full theme toggle support with accessible color contrast.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6366F1"/>
                </a:solidFill>
                <a:latin typeface="Arial"/>
              </a:defRPr>
            </a:pPr>
            <a:r>
              <a:t>ENGINEERING &amp;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Helvetica"/>
              </a:defRPr>
            </a:pPr>
            <a:r>
              <a:t>100% Free Cloud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>
                <a:solidFill>
                  <a:srgbClr val="94A3B8"/>
                </a:solidFill>
                <a:latin typeface="Arial"/>
              </a:defRPr>
            </a:pPr>
            <a:r>
              <a:t>Publicly accessible worldwide with zero server hosting costs.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Hugging Face Spaces (Live App)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Live Public URL:</a:t>
            </a:r>
            <a:br/>
            <a:r>
              <a:t>  https://minkhanttin-anivibe.static.hf.space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100% Free Static Hosting: Deployed using Hugging Face Static SDK, requiring $0.00/month and no paid Docker instance.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Zero Downtime &amp; Global CDN: Accessible worldwide with instant load times on phones, iPads, and PCs.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Client-Side Academic Engine: Computes all 4 recommendation algorithms in JavaScript in &lt; 3 ms directly in the browser.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3815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8135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GitHub Open-Source Codebase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Official Repository:</a:t>
            </a:r>
            <a:br/>
            <a:r>
              <a:t>  https://github.com/manisandar/anime-dsrs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Core Python Algorithms: Complete implementations in recommender/algorithms.py and pipeline.py.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Reproducible Benchmarks: Anyone can run 'python3 recommender/evaluate.py' to verify the benchmark metrics.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Clean Academic Formatting: Well-documented codebase ready for university examination and code inspection.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005840"/>
            <a:ext cx="9997135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371600"/>
            <a:ext cx="88998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6366F1"/>
                </a:solidFill>
              </a:defRPr>
            </a:pPr>
            <a:r>
              <a:t>PROJECT SUMMARY &amp; CONCLUSION</a:t>
            </a:r>
          </a:p>
          <a:p>
            <a:pPr>
              <a:spcAft>
                <a:spcPts val="1600"/>
              </a:spcAft>
              <a:defRPr sz="4600" b="1">
                <a:solidFill>
                  <a:srgbClr val="F8FAFC"/>
                </a:solidFill>
              </a:defRPr>
            </a:pPr>
            <a:r>
              <a:t>Thank You!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</a:defRPr>
            </a:pPr>
            <a:r>
              <a:t>1. Complete Paradigm Implementation: Successfully built and compared Popularity, Content-Based, Knowledge-Based, and 1+1 Hybrid systems.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</a:defRPr>
            </a:pPr>
            <a:r>
              <a:t>2. Superior Hybrid Performance: Reached 1.0000 Precision@10 while increasing intra-list diversity by +51% over pure Content-Based filtering.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</a:defRPr>
            </a:pPr>
            <a:r>
              <a:t>3. User Empowerment: Transparent explainable AI rules remove black-box confusion and solve the streaming paradox of choice.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</a:defRPr>
            </a:pPr>
            <a:r>
              <a:t>4. Production Ready: Live public deployment with zero cloud hosting costs.</a:t>
            </a:r>
          </a:p>
          <a:p>
            <a:br/>
            <a:pPr>
              <a:defRPr sz="2200" b="1">
                <a:solidFill>
                  <a:srgbClr val="06B6D4"/>
                </a:solidFill>
              </a:defRPr>
            </a:pPr>
            <a:r>
              <a:t>Questions &amp; Live Demonstration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