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005840"/>
            <a:ext cx="9997135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ASSUMPTION UNIVERSITY • VINCENT MARY SCHOOL OF SCIENCE &amp; TECHNOLOGY</a:t>
            </a:r>
          </a:p>
          <a:p>
            <a:pPr>
              <a:spcAft>
                <a:spcPts val="800"/>
              </a:spcAft>
              <a:defRPr sz="5000" b="1">
                <a:solidFill>
                  <a:srgbClr val="F8FAFC"/>
                </a:solidFill>
                <a:latin typeface="Helvetica"/>
              </a:defRPr>
            </a:pPr>
            <a:r>
              <a:t>ANIVIBE</a:t>
            </a:r>
          </a:p>
          <a:p>
            <a:pPr>
              <a:spcAft>
                <a:spcPts val="1800"/>
              </a:spcAft>
              <a:defRPr sz="2600" b="1">
                <a:solidFill>
                  <a:srgbClr val="A855F7"/>
                </a:solidFill>
                <a:latin typeface="Helvetica"/>
              </a:defRPr>
            </a:pPr>
            <a:r>
              <a:t>Anime Decision Support &amp; 1+1 Hybrid Recommendation System</a:t>
            </a:r>
          </a:p>
          <a:p>
            <a:pPr>
              <a:spcAft>
                <a:spcPts val="2800"/>
              </a:spcAft>
              <a:defRPr sz="2000">
                <a:solidFill>
                  <a:srgbClr val="E2E8F0"/>
                </a:solidFill>
                <a:latin typeface="Arial"/>
              </a:defRPr>
            </a:pPr>
            <a:r>
              <a:t>A modern decision intelligence platform combining genuine user taste with situational constraints.</a:t>
            </a:r>
          </a:p>
          <a:p>
            <a:pPr>
              <a:defRPr sz="1800" b="1">
                <a:solidFill>
                  <a:srgbClr val="06B6D4"/>
                </a:solidFill>
                <a:latin typeface="Arial"/>
              </a:defRPr>
            </a:pPr>
            <a:r>
              <a:t>Course: CSX/ITX 4207 Decision Support and Recommendation System</a:t>
            </a:r>
            <a:br/>
            <a:r>
              <a:t>Live App: https://minkhanttin-anivibe.static.hf.space   •   Code: github.com/manisandar/anime-dsrs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PROBLEM STATEMENT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The 'Paradox of Choice' in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Why viewers struggle to pick an anime, and why typical recommenders fail.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The Choice Overload Problem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Massive Catalogs: Streaming services offer over 1,200+ anime titles.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Decision Fatigue: Viewers spend 20 to 30 minutes browsing endlessly.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Abandoned Sessions: Overwhelmed users often give up without watching anything.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Generic Carousels: Conventional homepages only promote the same top 10 blockbusters.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The Context Blind Spot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Ignores Time Limits: Recommending a 500-episode anime is useless when you only have tonight.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Ignores Viewer Mood: Recommenders ignore whether you feel like laughing or watching drama.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Only Looks Backward: Traditional systems only look at past ratings, not current needs.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Black-Box Suggestions: Users are rarely told why a title was selected for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PROJECT VISION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The ANIVIBE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A dual-purpose platform combining personal taste with situational decision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10728655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999713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600" b="1">
                <a:solidFill>
                  <a:srgbClr val="F8FAFC"/>
                </a:solidFill>
              </a:defRPr>
            </a:pPr>
            <a:r>
              <a:t>How ANIVIBE Bridges Taste and Situation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1. Taste Profile (Content-Based): Learns your favorite genres dynamically from your 1-to-5 star ratings without requiring fake synthetic user accounts.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2. Real-World Constraints (Knowledge-Based): Filters titles based on your current time budget (episode count), minimum score, and viewing mood.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3. 1+1 Hybrid Fusion ('Smart Match'): Combines 50% Personal Taste with 50% Situational Fit into a unified score so every recommendation fits both your taste and your schedule.</a:t>
            </a:r>
          </a:p>
          <a:p>
            <a:pPr>
              <a:spcAft>
                <a:spcPts val="1400"/>
              </a:spcAft>
              <a:defRPr sz="1900">
                <a:solidFill>
                  <a:srgbClr val="E2E8F0"/>
                </a:solidFill>
              </a:defRPr>
            </a:pPr>
            <a:r>
              <a:t>•  4. Transparent Explainability: Provides clear checklists showing why an anime matched or was excluded, eliminating black-box mystery.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CORE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4 Distinct Recommendation Paradigms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Strict academic separation between consensus, taste, rules, and hybrid fusion.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59E0B"/>
                </a:solidFill>
              </a:defRPr>
            </a:pPr>
            <a:r>
              <a:t>1. Popularity Baseline • Consensus Ranking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Uses Bayesian smoothing to rank globally loved anime. Serves as the cold-start baseline for new visitors with 0 ratings.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2415" y="2148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A855F7"/>
                </a:solidFill>
              </a:defRPr>
            </a:pPr>
            <a:r>
              <a:t>2. Content-Based Filtering • Genre Vector Space Model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Calculates cosine similarity across 29 genres. Powers 'More Like This' and builds user taste vectors from active ratings.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6B6D4"/>
                </a:solidFill>
              </a:defRPr>
            </a:pPr>
            <a:r>
              <a:t>3. Knowledge-Based Recommendation • Constraint Satisfaction &amp; Rules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Filters candidate anime using hard limits (episodes, rating) and soft domain rules (viewing mood) with clear explanations.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4251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2415" y="44348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0B981"/>
                </a:solidFill>
              </a:defRPr>
            </a:pPr>
            <a:r>
              <a:t>4. 1+1 Hybrid Fusion • Smart Match Engine</a:t>
            </a:r>
          </a:p>
          <a:p>
            <a:pPr>
              <a:defRPr sz="1800">
                <a:solidFill>
                  <a:srgbClr val="E2E8F0"/>
                </a:solidFill>
              </a:defRPr>
            </a:pPr>
            <a:r>
              <a:t>Equally combines 50% User Taste with 50% Situational Fit. Solves overspecialization and provides personalized results.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Dataset &amp; Preprocessing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Authentic Crunchyroll streaming dataset with zero synthetic users.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Dataset Highlights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1,255 Cleaned Anime Titles: Complete metadata from the Crunchyroll catalog including synopsis, artwork, and episodes.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29 Binary Genre Features: Each anime is encoded into a 29-dimensional vector (Action, Shonen, Romance, Sci-Fi, etc.).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18,500+ Community Ratings: Authentic multi-star distribution histograms (1★ to 5★ votes) for every anime.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Synthetic Users: All user tests are based on real interaction sessions, preserving academic integrity.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Evaluation Integrity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80/20 Train-Test Split: 20% of ratings were held out in a test vault to simulate unobserved future choices.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No Data Leakage: Evaluation metrics only test against the holdout set, guaranteeing objective benchmark scores.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Vector Normalization: L2 Euclidean normalization is applied to genre vectors to ensure fair cosine similarity comparisons.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Lightweight Catalog (&lt; 1 MB): Optimized JSON format loads in milliseconds and runs directly in the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Popularity Baseline (Bayesian Consensus)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Solving low-sample rating bias with weighted Bayesian consensus ranking.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Bayesian Rating Formula</a:t>
            </a:r>
          </a:p>
          <a:p>
            <a:pPr>
              <a:spcAft>
                <a:spcPts val="1600"/>
              </a:spcAft>
              <a:defRPr sz="2000" b="1">
                <a:solidFill>
                  <a:srgbClr val="06B6D4"/>
                </a:solidFill>
              </a:defRPr>
            </a:pPr>
            <a:r>
              <a:t>WR = ( v / (v + m) ) × R + ( m / (v + m) ) × C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v = Number of ratings/votes for this anime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m = Minimum vote threshold prior (m = 100 votes)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R = Average viewer rating for this anime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C = Global mean rating across the entire catalog (C = 3.65)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Weighted Consensus: As votes (v) increase, the score shifts smoothly from the global mean (C) to the anime's true rating (R).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Why This Prevents Unfair Bias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The 1-Vote Flaw: Without Bayesian smoothing, a movie with a single 5.0★ vote would rank #1 overall.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The Solution: With m = 100, an anime with 1 vote of 5.0★ drops to WR ≈ 3.66★ (pulled toward average).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Fair Classic Recognition: A popular classic with 4.8★ across 50,000 votes achieves WR ≈ 4.80★.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Role in ANIVIBE: Displayed on the Home page as 'Popular Right Now' to welcome new users with 0 ratings.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Content-Based Item Similarity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Pairing anime using Cosine Similarity on 29-genre binary feature vectors.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Cosine Similarity Math</a:t>
            </a:r>
          </a:p>
          <a:p>
            <a:pPr>
              <a:spcAft>
                <a:spcPts val="1600"/>
              </a:spcAft>
              <a:defRPr sz="2000" b="1">
                <a:solidFill>
                  <a:srgbClr val="06B6D4"/>
                </a:solidFill>
              </a:defRPr>
            </a:pPr>
            <a:r>
              <a:t>sim(A, B) = ( A • B ) / ( ||A|| × ||B|| 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A and B are 29-dimensional binary vectors where 1 represents genre presence and 0 represents absence.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A • B computes the count of shared overlapping genres between the two titles.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||A|| × ||B|| normalizes the score by vector lengths so titles with many genres do not artificially dominate.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Produces an intuitive similarity percentage from 0% (no overlap) to 100% (identical genre fingerprint).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How It Works on Detail Page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'More Like This' Row: Displayed on the Anime Detail page directly below the anime information.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Netflix-Style Carousel: Shows recommendations in a single horizontal row with left/right navigation arrows.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Concrete Example: If viewing Naruto (Action, Shonen, Martial Arts), it recommends titles with identical high genre overlap.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Independent of User History: Lets users explore similar shows even before rating any titles.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Personalized Content-Based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Dynamically learning user taste vectors from active 1-to-5 star ratings.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Centered Taste Weighting</a:t>
            </a:r>
          </a:p>
          <a:p>
            <a:pPr>
              <a:spcAft>
                <a:spcPts val="1600"/>
              </a:spcAft>
              <a:defRPr sz="2000" b="1">
                <a:solidFill>
                  <a:srgbClr val="10B981"/>
                </a:solidFill>
              </a:defRPr>
            </a:pPr>
            <a:r>
              <a:t>Genre Weight = Rating − 3.0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5★ Rating = +2.0 (Strongly loved genre; heavy boost)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4★ Rating = +1.0 (Mild preference; positive boost)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3★ Rating = 0.0 (Neutral; zero effect on taste profile)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2★ Rating = −1.0 (Mild dislike; penalizes genre)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1★ Rating = −2.0 (Strongly avoided; heavy penalty)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User Profile Construction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Active Session Learning: Taste vector updates in real time immediately after each star rating is submitted.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Non-Negative Preference (ReLU): Negative sums are clamped at 0 to maintain a positive genre preference magnitude.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Candidate Ranking: Every unrated anime is scored against the normalized user vector via Cosine Similarity.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High Precision: Delivers 0.5500 Precision@10, accurately targeting the viewer's favorite genre clusters.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3A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Knowledge-Based Decision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Evaluating user situation limits through hard constraint satisfaction.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Explicit Hard Constraints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Episode Budget Limit: Candidate must have episodes ≤ user limit (e.g. ≤ 13 eps for a single evening).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Minimum Quality Threshold: Candidate must have viewer score ≥ user minimum (e.g. rating ≥ 4.0★).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Required Genres: Candidate must include all selected required genres (e.g. must include Sci-Fi).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Excluded Genres: Candidate must NOT contain any forbidden genres (e.g. avoid Horror).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Domain Knowledge Rules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Viewing Commitment Rule: Categorizes anime length into clear commitment tiers:</a:t>
            </a:r>
            <a:br/>
            <a:r>
              <a:t>   - Short: ≤ 13 episodes (quick finish)</a:t>
            </a:r>
            <a:br/>
            <a:r>
              <a:t>   - Medium: 14 to 26 episodes (weekend binge)</a:t>
            </a:r>
            <a:br/>
            <a:r>
              <a:t>   - Long: &gt; 26 episodes (extended series)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Past History Needed: Functions as an on-demand decision filter; works 100% on day one.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High Utility Focus: Guarantees that every returned title strictly fits the user's available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Viewing Mood &amp; Explainable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Mapping emotional mood to genres and providing transparent reasoning checklists.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Mood-to-Genre Domain Mapping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Exciting Mood: Action, Shonen, Tournament, Super Power, Martial Arts.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Chill Mood: Slice of Life, Comedy, Light Romance.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Dark Mood: Psychological, Thriller, Horror, Mystery.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Emotional Mood: Drama, Romance, Emotional Slice of Life.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Soft Multiplier: Mood match provides an additive score bonus (+0.15) to boost candidate ranking.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Transparent Explainable AI (XAI)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Zero Black-Box Decisions: Users are never left wondering why an anime appeared.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Transparent Evaluation Checklist: Every title displays a clear verdict table:</a:t>
            </a:r>
            <a:br/>
            <a:r>
              <a:t>   - Episode Limit: Target ≤ 26 vs Actual 12 eps (Passed)</a:t>
            </a:r>
            <a:br/>
            <a:r>
              <a:t>   - Quality Score: Target ≥ 4.0 vs Actual 4.3★ (Passed)</a:t>
            </a:r>
            <a:br/>
            <a:r>
              <a:t>   - Mood Overlap: Matched 'Action, Shonen' (Passed)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Builds User Trust: Explaining the reasoning boosts viewer confidence in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1+1 Hybrid Fusion ('Smart Match')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Balancing personal taste with situational constraints in a unified mathematical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F8FAFC"/>
                </a:solidFill>
              </a:defRPr>
            </a:pPr>
            <a:r>
              <a:t>The Hybrid Formula</a:t>
            </a:r>
          </a:p>
          <a:p>
            <a:pPr>
              <a:spcAft>
                <a:spcPts val="1600"/>
              </a:spcAft>
              <a:defRPr sz="2000" b="1">
                <a:solidFill>
                  <a:srgbClr val="06B6D4"/>
                </a:solidFill>
              </a:defRPr>
            </a:pPr>
            <a:r>
              <a:t>Score_Hybrid = 0.50 × S_CBF + 0.50 × S_KBR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50% User Taste (S_CBF): Cosine similarity between candidate anime and the user's rated genre profile.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50% Requirement Fit (S_KBR): Continuous utility score reflecting episode fit, score bonus, and mood overlap.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Multi-Dimensional Scoring: Displays both individual match percentages (Taste % and Constraint %) alongside overall Hybrid Match 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Why Both Components Are Vital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</a:defRPr>
            </a:pPr>
            <a:r>
              <a:t>•  Taste Alone is Incomplete: A show may match your taste 100%, but if it has 500 episodes when you only have tonight, it is useless.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</a:defRPr>
            </a:pPr>
            <a:r>
              <a:t>•  Constraints Alone Lack Flavor: A filter alone might find a 12-episode show with 4.5★, but in a genre you completely dislike.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</a:defRPr>
            </a:pPr>
            <a:r>
              <a:t>•  The Synergy: The 1+1 Hybrid guarantees that every top recommendation is both genuinely loved AND realistically watchable right now.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RECOMMENDATION PARADIGM 4B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Cold-Start Handling &amp; Diversity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Switching hybrid architecture that eliminates cold-start crashes and overspecialization.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Graceful Cold-Start Strategy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0 Ratings Detection: When a visitor has not rated any titles, Smart Match detects cold-start immediately.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Interactive Onboarding: Shows a clean banner prompting the user to rate 2 or 3 titles to unlock taste scoring.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Switching Fallback: Seamlessly routes queries through Knowledge-Based constraint filters without throwing errors.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System Crashes: Ensures 100% stability regardless of whether the user is brand new or an experienced rater.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Overcoming Overspecialization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The Echo Chamber Problem: Pure Content-Based recommenders suffer from low diversity (0.1334), trapping users in one genre.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Healthy Serendipity: Knowledge constraints (mood, length) pull candidates from neighboring genres that still fit the situation.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+51% Diversity Improvement: The 1+1 Hybrid increases recommendation diversity from 0.1334 to 0.2017.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Best of Both Worlds: Delivers fresh variety while preserving 100% relevance to the user's current needs.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Academic Evaluation Benchmark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Offline benchmark results verified on holdout ratings (python3 recommender/evaluate.py).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65960"/>
          <a:ext cx="1072865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215"/>
                <a:gridCol w="1737360"/>
                <a:gridCol w="1737360"/>
                <a:gridCol w="173736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Recommendation Paradigm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Precision@10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Recall@10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Diversity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Popularity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0.3000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0.0158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0.7801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Content-Based Filtering (CBF)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0.5500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0.0380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0.1334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3.2%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Knowledge-Based Filtering (KBR)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0.7750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0.0933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0.5248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0">
                          <a:solidFill>
                            <a:srgbClr val="F8FAFC"/>
                          </a:solidFill>
                        </a:defRPr>
                      </a:pPr>
                      <a:r>
                        <a:t>2.4%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8FAFC"/>
                          </a:solidFill>
                        </a:defRPr>
                      </a:pPr>
                      <a:r>
                        <a:t>1+1 Hybrid (CBF + KBR)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0.1175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0.2017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0B981"/>
                          </a:solidFill>
                        </a:defRPr>
                      </a:pPr>
                      <a:r>
                        <a:t>3.2%</a:t>
                      </a:r>
                    </a:p>
                  </a:txBody>
                  <a:tcPr>
                    <a:solidFill>
                      <a:srgbClr val="272D4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709160"/>
            <a:ext cx="101800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6B6D4"/>
                </a:solidFill>
              </a:defRPr>
            </a:pPr>
            <a:r>
              <a:t>Key Defense Insights for Dr. Benjawan</a:t>
            </a:r>
          </a:p>
          <a:p>
            <a:pPr>
              <a:spcAft>
                <a:spcPts val="400"/>
              </a:spcAft>
              <a:defRPr sz="1800">
                <a:solidFill>
                  <a:srgbClr val="E2E8F0"/>
                </a:solidFill>
              </a:defRPr>
            </a:pPr>
            <a:r>
              <a:t>•  1. Highest Precision (1.0000): 1+1 Hybrid achieves perfect Top-10 relevant hits on test profiles by removing irrelevant lengths and targeting preferred genres.</a:t>
            </a:r>
          </a:p>
          <a:p>
            <a:pPr>
              <a:spcAft>
                <a:spcPts val="400"/>
              </a:spcAft>
              <a:defRPr sz="1800">
                <a:solidFill>
                  <a:srgbClr val="E2E8F0"/>
                </a:solidFill>
              </a:defRPr>
            </a:pPr>
            <a:r>
              <a:t>•  2. Resolves CBF Overspecialization: Boosts intra-list diversity from 0.1334 to 0.2017 (+51% increase) without losing relevance.</a:t>
            </a:r>
          </a:p>
          <a:p>
            <a:pPr>
              <a:spcAft>
                <a:spcPts val="400"/>
              </a:spcAft>
              <a:defRPr sz="1800">
                <a:solidFill>
                  <a:srgbClr val="E2E8F0"/>
                </a:solidFill>
              </a:defRPr>
            </a:pPr>
            <a:r>
              <a:t>•  3. Zero Data Leakage: Evaluated objectively against holdout test interactions using our automated test suite.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USER EXPERIENCE &amp;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Modern Interactive Platform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Designed with streaming-grade aesthetics for effortless decision making.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Smart Match Decision Center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Interactive Sliders: Real-time control of maximum episode budgets (≤ 13, ≤ 26, ≤ 50 eps) and minimum rating thresholds.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Mood &amp; Genre Pills: One-click selection of viewing moods (Exciting, Chill, Dark, Emotional) and required/excluded genres.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Instant Mathematical Scores: Displays both Taste Match % and Requirement Fit % alongside the combined Hybrid Score 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Detail View &amp; Discovery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Rating Distribution Histogram: Interactive 1-to-5 star vote breakdown bars located directly inside the anime hero container.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Netflix-Style Carousels: Reusable horizontal carousel rows for 'More Like This' and 'Recommended For You' with chevron navigation.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3D Responsive Canvas: Dynamic background particle grid responding to mouse movements across all pages.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</a:defRPr>
            </a:pPr>
            <a:r>
              <a:t>•  Dark &amp; Light Mode: Full theme toggle support with accessible color contrast.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Arial"/>
              </a:defRPr>
            </a:pPr>
            <a:r>
              <a:t>ENGINEERING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Helvetica"/>
              </a:defRPr>
            </a:pPr>
            <a:r>
              <a:t>100% Free Cloud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>
                <a:solidFill>
                  <a:srgbClr val="94A3B8"/>
                </a:solidFill>
                <a:latin typeface="Arial"/>
              </a:defRPr>
            </a:pPr>
            <a:r>
              <a:t>Publicly accessible worldwide with zero server hosting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Hugging Face Spaces (Live App)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Live Public URL:</a:t>
            </a:r>
            <a:br/>
            <a:r>
              <a:t>  https://minkhanttin-anivibe.static.hf.space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100% Free Static Hosting: Deployed using Hugging Face Static SDK, requiring $0.00/month and no paid Docker instance.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Zero Downtime &amp; Global CDN: Accessible worldwide with instant load times on phones, iPads, and PCs.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Client-Side Academic Engine: Computes all 4 recommendation algorithms in JavaScript in &lt; 3 ms directly in the browser.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3815" y="1965960"/>
            <a:ext cx="516636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2286000"/>
            <a:ext cx="4617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F8FAFC"/>
                </a:solidFill>
              </a:defRPr>
            </a:pPr>
            <a:r>
              <a:t>GitHub Open-Source Codebase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Official Repository:</a:t>
            </a:r>
            <a:br/>
            <a:r>
              <a:t>  https://github.com/manisandar/anime-dsrs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Core Python Algorithms: Complete implementations in recommender/algorithms.py and pipeline.py.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Reproducible Benchmarks: Anyone can run 'python3 recommender/evaluate.py' to verify the benchmark metrics.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</a:defRPr>
            </a:pPr>
            <a:r>
              <a:t>•  Clean Academic Formatting: Well-documented codebase ready for university examination and code inspection.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05840"/>
            <a:ext cx="9997135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6366F1"/>
                </a:solidFill>
              </a:defRPr>
            </a:pPr>
            <a:r>
              <a:t>PROJECT SUMMARY &amp; CONCLUSION</a:t>
            </a:r>
          </a:p>
          <a:p>
            <a:pPr>
              <a:spcAft>
                <a:spcPts val="1600"/>
              </a:spcAft>
              <a:defRPr sz="46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1. Complete Paradigm Implementation: Successfully built and compared Popularity, Content-Based, Knowledge-Based, and 1+1 Hybrid systems.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2. Superior Hybrid Performance: Reached 1.0000 Precision@10 while increasing intra-list diversity by +51% over pure Content-Based filtering.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3. User Empowerment: Transparent explainable AI rules remove black-box confusion and solve the streaming paradox of choice.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</a:defRPr>
            </a:pPr>
            <a:r>
              <a:t>4. Production Ready: Live public deployment with zero cloud hosting costs.</a:t>
            </a:r>
          </a:p>
          <a:p>
            <a:br/>
            <a:pPr>
              <a:defRPr sz="2200" b="1">
                <a:solidFill>
                  <a:srgbClr val="06B6D4"/>
                </a:solidFill>
              </a:defRPr>
            </a:pPr>
            <a:r>
              <a:t>Questions &amp; Live Demonstration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